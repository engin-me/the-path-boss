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6F6F"/>
    <a:srgbClr val="2FD17B"/>
    <a:srgbClr val="E7B75C"/>
    <a:srgbClr val="657687"/>
    <a:srgbClr val="98A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-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BA7CDF5-3218-62CB-62B6-419AF4A66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E82A729-D228-02DD-D9E7-13D62B87A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51EEA37-B719-62F6-CEB7-F1249F90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F77E4E9-A2DB-CA30-2D9A-5B75CFDAE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743C709-5C37-B4B8-ADD6-70B8B352B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849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E42F51-1BAE-D0AC-97B9-EDA422AC9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6CB267F-EA78-DE6F-326E-1463845E2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709B366-9003-1443-4262-95F8D88BD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33C8037-272E-6F65-4EA4-F4CACFC8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8D3E238-1098-5B05-DA8A-1DD86467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7531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9929F1-E3EA-C441-2C15-929C3C2E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3A4573F-AB9C-99D0-5CA2-B91AB5800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5B4BC3C-B0E0-F323-BFB8-3159F49D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25CD647-C677-0CA6-12D8-B59AF77B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02FE126-B5AF-FF26-58D1-CDD1AEA9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1024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110874-7C16-99CD-F38D-5095A0B3E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E2C3C8B-E9D5-3274-D0A3-D2BE77177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5C2B2CB-AA93-E671-D89B-0DAE1B469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5558171-71FE-20EA-1F37-EFA3D899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6BF13D4-DB21-3ECC-5BCF-AD7EC12FA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AFAE0E1-FCBB-9096-34B7-EE0D93B3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4861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B8222F-F76E-4C11-2C7C-1BDC18E42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9300AFC-D212-4375-EFDE-89E54F01A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21DEBEA-669B-5C63-BA6E-7C83EA6C5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ACEED66-8209-FA57-25E2-7C30C6B10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D7EC09D-1AB1-9C87-E7D0-DC79C04C8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7265EC5-2111-F334-5322-BC8A63E6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AFA8D73E-0AAD-DB0D-2820-4C1B51C1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2C5358F-C8D3-2E07-FD03-B9EDD6248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880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528013-7837-4BCC-2264-2D3D31DBA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FDB36EB-F886-CE31-B15F-954A6C42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08290EE-7CA3-CBD5-AF80-167DEFEBE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0001676-447B-73E2-B002-2EB5753E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3390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1E8A306-693C-A1BB-AFCE-EE9B2379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2F21727C-2A48-B486-7542-FCB18DC5C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94B37ED-64A0-61CB-4CA3-B67E6B69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249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88A596-A996-76FF-2E53-A415FBF16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F5FA7F-84E1-0099-84FC-856F23625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01EE32D-CB5D-35CA-AAA8-5BB87DAB4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03F99B6-72C1-26ED-6959-CF468837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9C28CA8-5F81-26E7-34A7-056320CA3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658FB01-794D-D7B5-4E73-3D6B1D39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9617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EAD55D-CDC0-7CB9-C767-66D94BAB6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BA5230A8-B44F-2C72-7E15-ACA6352E2A8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330E087-A3DE-630B-1DA0-110132B6F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E5B24E8-5394-84F3-07C1-FE2146F7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B99D97A-07D6-AF7A-8B2B-4B900B82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4819CF7-A71B-C8C9-BD34-EB9F31A2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57261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8B82FA-1CA2-FCCB-1FC1-695DF8760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731FDD1-7CF2-4D0F-07BE-07B8200CD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67A54F0-61AB-C3E1-F420-14914F851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3F2EFF-181A-8DAC-17DD-F68DF38A5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50E88E1-74D8-1737-30D7-388816BF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5644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F1106D67-A7CE-AFDE-456E-0E87D70C1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CB66281-CCF9-C0A1-370F-CCB808326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5FF24E1-A827-850D-BD87-5D4B56F4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6032F75-1D84-5C79-CCA7-525FD70C3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674C9AF-C706-BE77-AED2-C9E2F10F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9723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8B2589BE-F3FF-09EF-F322-82529373B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690A9A5-2F08-BBF5-ED28-7B079052E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2246407-4F4B-6DAE-A3C2-76B1A1E48A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1E029-3899-4FCC-AE48-8BD71B446F3D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F4AA28F-32BC-8B4B-DED0-5708C2AC5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F0CC634-6D28-4FF6-D389-7BBE052FC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43962-6085-4DAE-B4FB-BAAD863C2B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05330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Dikdörtgen: Köşeleri Yuvarlatılmış 170">
            <a:extLst>
              <a:ext uri="{FF2B5EF4-FFF2-40B4-BE49-F238E27FC236}">
                <a16:creationId xmlns:a16="http://schemas.microsoft.com/office/drawing/2014/main" id="{2AE05208-DD40-6A97-3008-B764CD352FC3}"/>
              </a:ext>
            </a:extLst>
          </p:cNvPr>
          <p:cNvSpPr/>
          <p:nvPr/>
        </p:nvSpPr>
        <p:spPr>
          <a:xfrm>
            <a:off x="109839" y="110775"/>
            <a:ext cx="5548653" cy="2742751"/>
          </a:xfrm>
          <a:prstGeom prst="roundRect">
            <a:avLst>
              <a:gd name="adj" fmla="val 5714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73" name="Dikdörtgen: Köşeleri Yuvarlatılmış 172">
            <a:extLst>
              <a:ext uri="{FF2B5EF4-FFF2-40B4-BE49-F238E27FC236}">
                <a16:creationId xmlns:a16="http://schemas.microsoft.com/office/drawing/2014/main" id="{367344D7-92BB-6F2E-19CC-29CAFA57226F}"/>
              </a:ext>
            </a:extLst>
          </p:cNvPr>
          <p:cNvSpPr/>
          <p:nvPr/>
        </p:nvSpPr>
        <p:spPr>
          <a:xfrm>
            <a:off x="4397442" y="2365299"/>
            <a:ext cx="1159733" cy="374814"/>
          </a:xfrm>
          <a:prstGeom prst="roundRect">
            <a:avLst>
              <a:gd name="adj" fmla="val 22483"/>
            </a:avLst>
          </a:prstGeom>
          <a:solidFill>
            <a:srgbClr val="1F7A4D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İncele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0A45079-0A6A-A5D2-D71D-17AF5EA60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5" b="3575"/>
          <a:stretch>
            <a:fillRect/>
          </a:stretch>
        </p:blipFill>
        <p:spPr>
          <a:xfrm>
            <a:off x="219773" y="192242"/>
            <a:ext cx="928963" cy="756408"/>
          </a:xfrm>
          <a:custGeom>
            <a:avLst/>
            <a:gdLst>
              <a:gd name="csX0" fmla="*/ 153575 w 1155762"/>
              <a:gd name="csY0" fmla="*/ 0 h 941079"/>
              <a:gd name="csX1" fmla="*/ 1002187 w 1155762"/>
              <a:gd name="csY1" fmla="*/ 0 h 941079"/>
              <a:gd name="csX2" fmla="*/ 1155762 w 1155762"/>
              <a:gd name="csY2" fmla="*/ 153575 h 941079"/>
              <a:gd name="csX3" fmla="*/ 1155762 w 1155762"/>
              <a:gd name="csY3" fmla="*/ 787504 h 941079"/>
              <a:gd name="csX4" fmla="*/ 1002187 w 1155762"/>
              <a:gd name="csY4" fmla="*/ 941079 h 941079"/>
              <a:gd name="csX5" fmla="*/ 153575 w 1155762"/>
              <a:gd name="csY5" fmla="*/ 941079 h 941079"/>
              <a:gd name="csX6" fmla="*/ 0 w 1155762"/>
              <a:gd name="csY6" fmla="*/ 787504 h 941079"/>
              <a:gd name="csX7" fmla="*/ 0 w 1155762"/>
              <a:gd name="csY7" fmla="*/ 153575 h 941079"/>
              <a:gd name="csX8" fmla="*/ 153575 w 1155762"/>
              <a:gd name="csY8" fmla="*/ 0 h 941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55762" h="941079">
                <a:moveTo>
                  <a:pt x="153575" y="0"/>
                </a:moveTo>
                <a:lnTo>
                  <a:pt x="1002187" y="0"/>
                </a:lnTo>
                <a:cubicBezTo>
                  <a:pt x="1087004" y="0"/>
                  <a:pt x="1155762" y="68758"/>
                  <a:pt x="1155762" y="153575"/>
                </a:cubicBezTo>
                <a:lnTo>
                  <a:pt x="1155762" y="787504"/>
                </a:lnTo>
                <a:cubicBezTo>
                  <a:pt x="1155762" y="872321"/>
                  <a:pt x="1087004" y="941079"/>
                  <a:pt x="1002187" y="941079"/>
                </a:cubicBezTo>
                <a:lnTo>
                  <a:pt x="153575" y="941079"/>
                </a:lnTo>
                <a:cubicBezTo>
                  <a:pt x="68758" y="941079"/>
                  <a:pt x="0" y="872321"/>
                  <a:pt x="0" y="787504"/>
                </a:cubicBezTo>
                <a:lnTo>
                  <a:pt x="0" y="153575"/>
                </a:lnTo>
                <a:cubicBezTo>
                  <a:pt x="0" y="68758"/>
                  <a:pt x="68758" y="0"/>
                  <a:pt x="153575" y="0"/>
                </a:cubicBezTo>
                <a:close/>
              </a:path>
            </a:pathLst>
          </a:cu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22769D29-0DD9-7F4C-F842-58878A9498E0}"/>
              </a:ext>
            </a:extLst>
          </p:cNvPr>
          <p:cNvSpPr txBox="1"/>
          <p:nvPr/>
        </p:nvSpPr>
        <p:spPr>
          <a:xfrm>
            <a:off x="1148736" y="192241"/>
            <a:ext cx="20954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Gövde İşleme Partisi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DA4E2FB6-2D2B-5EB3-BDE0-E1570329082E}"/>
              </a:ext>
            </a:extLst>
          </p:cNvPr>
          <p:cNvSpPr txBox="1"/>
          <p:nvPr/>
        </p:nvSpPr>
        <p:spPr>
          <a:xfrm>
            <a:off x="842355" y="2137764"/>
            <a:ext cx="16834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Ridgeway</a:t>
            </a:r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 </a:t>
            </a:r>
          </a:p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Rosa </a:t>
            </a:r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Delgado</a:t>
            </a:r>
            <a:endParaRPr lang="tr-TR" sz="900" dirty="0">
              <a:solidFill>
                <a:srgbClr val="98A7B6"/>
              </a:solidFill>
              <a:latin typeface="IBM Plex Sans" panose="020B0503050203000203" pitchFamily="34" charset="0"/>
            </a:endParaRPr>
          </a:p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rosa.delgado@ridgeway.com</a:t>
            </a:r>
          </a:p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+052 454 7866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6D486211-173C-BFCA-89AA-74E04564F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73" y="2150138"/>
            <a:ext cx="622582" cy="629067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30A26B81-EC70-2D6D-A4F7-BEF14980505A}"/>
              </a:ext>
            </a:extLst>
          </p:cNvPr>
          <p:cNvSpPr txBox="1"/>
          <p:nvPr/>
        </p:nvSpPr>
        <p:spPr>
          <a:xfrm>
            <a:off x="3934243" y="548429"/>
            <a:ext cx="16514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2FD17B"/>
                </a:solidFill>
                <a:latin typeface="IBM Plex Sans" panose="020B0503050203000203" pitchFamily="34" charset="0"/>
              </a:rPr>
              <a:t>780 Ad  </a:t>
            </a:r>
            <a:r>
              <a:rPr lang="tr-T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x  </a:t>
            </a:r>
            <a:r>
              <a:rPr lang="el-G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ω </a:t>
            </a:r>
            <a:r>
              <a:rPr lang="tr-T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1.5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E9FE01F5-D2CF-B0CD-6D0A-54EFAB4F75F3}"/>
              </a:ext>
            </a:extLst>
          </p:cNvPr>
          <p:cNvSpPr txBox="1"/>
          <p:nvPr/>
        </p:nvSpPr>
        <p:spPr>
          <a:xfrm>
            <a:off x="4870893" y="1318237"/>
            <a:ext cx="6735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100" dirty="0">
                <a:solidFill>
                  <a:srgbClr val="45C7D8"/>
                </a:solidFill>
                <a:latin typeface="IBM Plex Sans" panose="020B0503050203000203" pitchFamily="34" charset="0"/>
              </a:rPr>
              <a:t>0,1 mm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411B674C-B683-2C6F-8E26-E6A5198A43B3}"/>
              </a:ext>
            </a:extLst>
          </p:cNvPr>
          <p:cNvSpPr txBox="1"/>
          <p:nvPr/>
        </p:nvSpPr>
        <p:spPr>
          <a:xfrm>
            <a:off x="4032818" y="1318237"/>
            <a:ext cx="734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50" dirty="0">
                <a:solidFill>
                  <a:srgbClr val="98A7B6"/>
                </a:solidFill>
                <a:latin typeface="IBM Plex Sans" panose="020B0503050203000203" pitchFamily="34" charset="0"/>
              </a:rPr>
              <a:t>Tolerans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1D56732B-872D-7E4B-1F22-B5C10533E14A}"/>
              </a:ext>
            </a:extLst>
          </p:cNvPr>
          <p:cNvSpPr txBox="1"/>
          <p:nvPr/>
        </p:nvSpPr>
        <p:spPr>
          <a:xfrm>
            <a:off x="5080887" y="1628274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100" dirty="0">
                <a:solidFill>
                  <a:srgbClr val="45C7D8"/>
                </a:solidFill>
                <a:latin typeface="IBM Plex Sans" panose="020B0503050203000203" pitchFamily="34" charset="0"/>
              </a:rPr>
              <a:t>3 Ay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8BCF723D-B0C6-84BF-F575-BCCC33BD43BF}"/>
              </a:ext>
            </a:extLst>
          </p:cNvPr>
          <p:cNvSpPr txBox="1"/>
          <p:nvPr/>
        </p:nvSpPr>
        <p:spPr>
          <a:xfrm>
            <a:off x="4032818" y="1628274"/>
            <a:ext cx="7328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50" dirty="0">
                <a:solidFill>
                  <a:srgbClr val="98A7B6"/>
                </a:solidFill>
                <a:latin typeface="IBM Plex Sans" panose="020B0503050203000203" pitchFamily="34" charset="0"/>
              </a:rPr>
              <a:t>Teslimat</a:t>
            </a:r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D14FC86D-D43C-D3E3-24F6-8C82421E79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73" y="1488620"/>
            <a:ext cx="428773" cy="36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EFD14BB-217C-BC97-C31F-387296F02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02604" y="1488620"/>
            <a:ext cx="428773" cy="36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AD4AD5E-AEA8-604C-F7B4-0CDD2D7CFC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9987" y="1488620"/>
            <a:ext cx="428773" cy="36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57E23E5D-7CCD-FF0E-2EF8-F51DC2F1A4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2389" y="1461111"/>
            <a:ext cx="360000" cy="428773"/>
          </a:xfrm>
          <a:prstGeom prst="rect">
            <a:avLst/>
          </a:prstGeom>
        </p:spPr>
      </p:pic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68CE548E-80A4-35F1-2532-9D83ADE7214C}"/>
              </a:ext>
            </a:extLst>
          </p:cNvPr>
          <p:cNvSpPr/>
          <p:nvPr/>
        </p:nvSpPr>
        <p:spPr>
          <a:xfrm>
            <a:off x="109839" y="2978060"/>
            <a:ext cx="5548653" cy="13411692"/>
          </a:xfrm>
          <a:prstGeom prst="roundRect">
            <a:avLst>
              <a:gd name="adj" fmla="val 3245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77015596-C9D4-8EB3-DE77-C552FEAA78F7}"/>
              </a:ext>
            </a:extLst>
          </p:cNvPr>
          <p:cNvSpPr txBox="1"/>
          <p:nvPr/>
        </p:nvSpPr>
        <p:spPr>
          <a:xfrm>
            <a:off x="4479264" y="235309"/>
            <a:ext cx="11063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solidFill>
                  <a:srgbClr val="E7B75C"/>
                </a:solidFill>
                <a:latin typeface="IBM Plex Sans" panose="020B0503050203000203" pitchFamily="34" charset="0"/>
              </a:rPr>
              <a:t>İş No: 261101</a:t>
            </a:r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33687416-2A25-DD64-E886-730233DE2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5" b="53489"/>
          <a:stretch>
            <a:fillRect/>
          </a:stretch>
        </p:blipFill>
        <p:spPr>
          <a:xfrm>
            <a:off x="219773" y="3082624"/>
            <a:ext cx="5324702" cy="2004884"/>
          </a:xfrm>
          <a:custGeom>
            <a:avLst/>
            <a:gdLst>
              <a:gd name="csX0" fmla="*/ 153575 w 1155762"/>
              <a:gd name="csY0" fmla="*/ 0 h 941079"/>
              <a:gd name="csX1" fmla="*/ 1002187 w 1155762"/>
              <a:gd name="csY1" fmla="*/ 0 h 941079"/>
              <a:gd name="csX2" fmla="*/ 1155762 w 1155762"/>
              <a:gd name="csY2" fmla="*/ 153575 h 941079"/>
              <a:gd name="csX3" fmla="*/ 1155762 w 1155762"/>
              <a:gd name="csY3" fmla="*/ 787504 h 941079"/>
              <a:gd name="csX4" fmla="*/ 1002187 w 1155762"/>
              <a:gd name="csY4" fmla="*/ 941079 h 941079"/>
              <a:gd name="csX5" fmla="*/ 153575 w 1155762"/>
              <a:gd name="csY5" fmla="*/ 941079 h 941079"/>
              <a:gd name="csX6" fmla="*/ 0 w 1155762"/>
              <a:gd name="csY6" fmla="*/ 787504 h 941079"/>
              <a:gd name="csX7" fmla="*/ 0 w 1155762"/>
              <a:gd name="csY7" fmla="*/ 153575 h 941079"/>
              <a:gd name="csX8" fmla="*/ 153575 w 1155762"/>
              <a:gd name="csY8" fmla="*/ 0 h 941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55762" h="941079">
                <a:moveTo>
                  <a:pt x="153575" y="0"/>
                </a:moveTo>
                <a:lnTo>
                  <a:pt x="1002187" y="0"/>
                </a:lnTo>
                <a:cubicBezTo>
                  <a:pt x="1087004" y="0"/>
                  <a:pt x="1155762" y="68758"/>
                  <a:pt x="1155762" y="153575"/>
                </a:cubicBezTo>
                <a:lnTo>
                  <a:pt x="1155762" y="787504"/>
                </a:lnTo>
                <a:cubicBezTo>
                  <a:pt x="1155762" y="872321"/>
                  <a:pt x="1087004" y="941079"/>
                  <a:pt x="1002187" y="941079"/>
                </a:cubicBezTo>
                <a:lnTo>
                  <a:pt x="153575" y="941079"/>
                </a:lnTo>
                <a:cubicBezTo>
                  <a:pt x="68758" y="941079"/>
                  <a:pt x="0" y="872321"/>
                  <a:pt x="0" y="787504"/>
                </a:cubicBezTo>
                <a:lnTo>
                  <a:pt x="0" y="153575"/>
                </a:lnTo>
                <a:cubicBezTo>
                  <a:pt x="0" y="68758"/>
                  <a:pt x="68758" y="0"/>
                  <a:pt x="153575" y="0"/>
                </a:cubicBezTo>
                <a:close/>
              </a:path>
            </a:pathLst>
          </a:custGeom>
        </p:spPr>
      </p:pic>
      <p:cxnSp>
        <p:nvCxnSpPr>
          <p:cNvPr id="22" name="Düz Bağlayıcı 21">
            <a:extLst>
              <a:ext uri="{FF2B5EF4-FFF2-40B4-BE49-F238E27FC236}">
                <a16:creationId xmlns:a16="http://schemas.microsoft.com/office/drawing/2014/main" id="{6030AEC0-B320-2C05-458C-B85748279A15}"/>
              </a:ext>
            </a:extLst>
          </p:cNvPr>
          <p:cNvCxnSpPr/>
          <p:nvPr/>
        </p:nvCxnSpPr>
        <p:spPr>
          <a:xfrm>
            <a:off x="286512" y="2002297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9912E65A-EEA3-E433-B3B8-83F3D33BBB50}"/>
              </a:ext>
            </a:extLst>
          </p:cNvPr>
          <p:cNvSpPr txBox="1"/>
          <p:nvPr/>
        </p:nvSpPr>
        <p:spPr>
          <a:xfrm>
            <a:off x="842355" y="5223988"/>
            <a:ext cx="16834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Ridgeway</a:t>
            </a:r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 </a:t>
            </a:r>
          </a:p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Rosa </a:t>
            </a:r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Delgado</a:t>
            </a:r>
            <a:endParaRPr lang="tr-TR" sz="900" dirty="0">
              <a:solidFill>
                <a:srgbClr val="98A7B6"/>
              </a:solidFill>
              <a:latin typeface="IBM Plex Sans" panose="020B0503050203000203" pitchFamily="34" charset="0"/>
            </a:endParaRPr>
          </a:p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rosa.delgado@ridgeway.com</a:t>
            </a:r>
          </a:p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+052 454 7866</a:t>
            </a:r>
          </a:p>
        </p:txBody>
      </p:sp>
      <p:pic>
        <p:nvPicPr>
          <p:cNvPr id="24" name="Resim 23">
            <a:extLst>
              <a:ext uri="{FF2B5EF4-FFF2-40B4-BE49-F238E27FC236}">
                <a16:creationId xmlns:a16="http://schemas.microsoft.com/office/drawing/2014/main" id="{D320847F-0F9F-692B-9F9C-AF9A6B35B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73" y="5236362"/>
            <a:ext cx="622582" cy="629067"/>
          </a:xfrm>
          <a:prstGeom prst="rect">
            <a:avLst/>
          </a:prstGeom>
        </p:spPr>
      </p:pic>
      <p:sp>
        <p:nvSpPr>
          <p:cNvPr id="25" name="Metin kutusu 24">
            <a:extLst>
              <a:ext uri="{FF2B5EF4-FFF2-40B4-BE49-F238E27FC236}">
                <a16:creationId xmlns:a16="http://schemas.microsoft.com/office/drawing/2014/main" id="{6593D540-9F26-B4F4-F129-30D660031A33}"/>
              </a:ext>
            </a:extLst>
          </p:cNvPr>
          <p:cNvSpPr txBox="1"/>
          <p:nvPr/>
        </p:nvSpPr>
        <p:spPr>
          <a:xfrm>
            <a:off x="3754707" y="5545704"/>
            <a:ext cx="18309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2FD17B"/>
                </a:solidFill>
                <a:latin typeface="IBM Plex Sans" panose="020B0503050203000203" pitchFamily="34" charset="0"/>
              </a:rPr>
              <a:t>3.280 Ad  </a:t>
            </a:r>
            <a:r>
              <a:rPr lang="tr-T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x  </a:t>
            </a:r>
            <a:r>
              <a:rPr lang="el-G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ω </a:t>
            </a:r>
            <a:r>
              <a:rPr lang="tr-T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1.5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42BD3549-953B-5503-D99E-6423E6ADDC96}"/>
              </a:ext>
            </a:extLst>
          </p:cNvPr>
          <p:cNvSpPr txBox="1"/>
          <p:nvPr/>
        </p:nvSpPr>
        <p:spPr>
          <a:xfrm>
            <a:off x="4479264" y="5232584"/>
            <a:ext cx="11063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solidFill>
                  <a:srgbClr val="E7B75C"/>
                </a:solidFill>
                <a:latin typeface="IBM Plex Sans" panose="020B0503050203000203" pitchFamily="34" charset="0"/>
              </a:rPr>
              <a:t>İş No: 261101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C7670064-482E-09A4-E76E-A89FE6EC60D6}"/>
              </a:ext>
            </a:extLst>
          </p:cNvPr>
          <p:cNvSpPr txBox="1"/>
          <p:nvPr/>
        </p:nvSpPr>
        <p:spPr>
          <a:xfrm>
            <a:off x="219773" y="6220788"/>
            <a:ext cx="1011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Parça Sayısı</a:t>
            </a:r>
          </a:p>
        </p:txBody>
      </p:sp>
      <p:sp>
        <p:nvSpPr>
          <p:cNvPr id="28" name="Metin kutusu 27">
            <a:extLst>
              <a:ext uri="{FF2B5EF4-FFF2-40B4-BE49-F238E27FC236}">
                <a16:creationId xmlns:a16="http://schemas.microsoft.com/office/drawing/2014/main" id="{E76B0E59-C8CE-256E-091C-5257C4C8EFD3}"/>
              </a:ext>
            </a:extLst>
          </p:cNvPr>
          <p:cNvSpPr txBox="1"/>
          <p:nvPr/>
        </p:nvSpPr>
        <p:spPr>
          <a:xfrm>
            <a:off x="219773" y="6681275"/>
            <a:ext cx="13981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Parça İş Gücü (</a:t>
            </a:r>
            <a:r>
              <a:rPr lang="el-G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ω</a:t>
            </a:r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)</a:t>
            </a:r>
          </a:p>
        </p:txBody>
      </p:sp>
      <p:cxnSp>
        <p:nvCxnSpPr>
          <p:cNvPr id="29" name="Düz Bağlayıcı 28">
            <a:extLst>
              <a:ext uri="{FF2B5EF4-FFF2-40B4-BE49-F238E27FC236}">
                <a16:creationId xmlns:a16="http://schemas.microsoft.com/office/drawing/2014/main" id="{E767B019-4D1B-2F32-69F3-8FB08EDDA4DE}"/>
              </a:ext>
            </a:extLst>
          </p:cNvPr>
          <p:cNvCxnSpPr/>
          <p:nvPr/>
        </p:nvCxnSpPr>
        <p:spPr>
          <a:xfrm>
            <a:off x="286512" y="5995177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5017B8AA-454C-74F6-B716-529793928DD4}"/>
              </a:ext>
            </a:extLst>
          </p:cNvPr>
          <p:cNvSpPr txBox="1"/>
          <p:nvPr/>
        </p:nvSpPr>
        <p:spPr>
          <a:xfrm>
            <a:off x="219773" y="7141762"/>
            <a:ext cx="1221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İstenen Teslim</a:t>
            </a:r>
          </a:p>
        </p:txBody>
      </p:sp>
      <p:sp>
        <p:nvSpPr>
          <p:cNvPr id="31" name="Metin kutusu 30">
            <a:extLst>
              <a:ext uri="{FF2B5EF4-FFF2-40B4-BE49-F238E27FC236}">
                <a16:creationId xmlns:a16="http://schemas.microsoft.com/office/drawing/2014/main" id="{7FBE4248-2697-B7C7-2032-4752AB9FC5D5}"/>
              </a:ext>
            </a:extLst>
          </p:cNvPr>
          <p:cNvSpPr txBox="1"/>
          <p:nvPr/>
        </p:nvSpPr>
        <p:spPr>
          <a:xfrm>
            <a:off x="3269770" y="6220790"/>
            <a:ext cx="9909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Hammadde</a:t>
            </a:r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FDF8A5DD-89C8-4EB1-88EF-43CA14C5D73C}"/>
              </a:ext>
            </a:extLst>
          </p:cNvPr>
          <p:cNvSpPr txBox="1"/>
          <p:nvPr/>
        </p:nvSpPr>
        <p:spPr>
          <a:xfrm>
            <a:off x="3269770" y="6681275"/>
            <a:ext cx="1196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Tolerans (</a:t>
            </a:r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mm</a:t>
            </a:r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)</a:t>
            </a:r>
          </a:p>
        </p:txBody>
      </p:sp>
      <p:sp>
        <p:nvSpPr>
          <p:cNvPr id="33" name="Metin kutusu 32">
            <a:extLst>
              <a:ext uri="{FF2B5EF4-FFF2-40B4-BE49-F238E27FC236}">
                <a16:creationId xmlns:a16="http://schemas.microsoft.com/office/drawing/2014/main" id="{954DCCB9-49F2-3FDD-01F8-DF0A0BE8D22F}"/>
              </a:ext>
            </a:extLst>
          </p:cNvPr>
          <p:cNvSpPr txBox="1"/>
          <p:nvPr/>
        </p:nvSpPr>
        <p:spPr>
          <a:xfrm>
            <a:off x="1675239" y="6220787"/>
            <a:ext cx="824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2FD17B"/>
                </a:solidFill>
                <a:latin typeface="IBM Plex Sans" panose="020B0503050203000203" pitchFamily="34" charset="0"/>
              </a:rPr>
              <a:t>3.280 Ad</a:t>
            </a:r>
            <a:endParaRPr lang="tr-TR" sz="1200" dirty="0">
              <a:solidFill>
                <a:srgbClr val="E7EDF3"/>
              </a:solidFill>
              <a:latin typeface="IBM Plex Sans" panose="020B0503050203000203" pitchFamily="34" charset="0"/>
            </a:endParaRPr>
          </a:p>
        </p:txBody>
      </p:sp>
      <p:sp>
        <p:nvSpPr>
          <p:cNvPr id="34" name="Metin kutusu 33">
            <a:extLst>
              <a:ext uri="{FF2B5EF4-FFF2-40B4-BE49-F238E27FC236}">
                <a16:creationId xmlns:a16="http://schemas.microsoft.com/office/drawing/2014/main" id="{0C973886-9858-54D9-8737-EEAB7F4E8A2B}"/>
              </a:ext>
            </a:extLst>
          </p:cNvPr>
          <p:cNvSpPr txBox="1"/>
          <p:nvPr/>
        </p:nvSpPr>
        <p:spPr>
          <a:xfrm>
            <a:off x="2087212" y="6686822"/>
            <a:ext cx="412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EDF3"/>
                </a:solidFill>
                <a:latin typeface="IBM Plex Sans" panose="020B0503050203000203" pitchFamily="34" charset="0"/>
              </a:rPr>
              <a:t>1.5</a:t>
            </a:r>
          </a:p>
        </p:txBody>
      </p:sp>
      <p:sp>
        <p:nvSpPr>
          <p:cNvPr id="35" name="Metin kutusu 34">
            <a:extLst>
              <a:ext uri="{FF2B5EF4-FFF2-40B4-BE49-F238E27FC236}">
                <a16:creationId xmlns:a16="http://schemas.microsoft.com/office/drawing/2014/main" id="{4D0458F9-88ED-06E0-93F5-33DB57415300}"/>
              </a:ext>
            </a:extLst>
          </p:cNvPr>
          <p:cNvSpPr txBox="1"/>
          <p:nvPr/>
        </p:nvSpPr>
        <p:spPr>
          <a:xfrm>
            <a:off x="2008664" y="7141762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EDF3"/>
                </a:solidFill>
                <a:latin typeface="IBM Plex Sans" panose="020B0503050203000203" pitchFamily="34" charset="0"/>
              </a:rPr>
              <a:t>9 Ay</a:t>
            </a:r>
          </a:p>
        </p:txBody>
      </p:sp>
      <p:sp>
        <p:nvSpPr>
          <p:cNvPr id="36" name="Metin kutusu 35">
            <a:extLst>
              <a:ext uri="{FF2B5EF4-FFF2-40B4-BE49-F238E27FC236}">
                <a16:creationId xmlns:a16="http://schemas.microsoft.com/office/drawing/2014/main" id="{D42CF574-DFB3-BA6C-DF91-920398DECF48}"/>
              </a:ext>
            </a:extLst>
          </p:cNvPr>
          <p:cNvSpPr txBox="1"/>
          <p:nvPr/>
        </p:nvSpPr>
        <p:spPr>
          <a:xfrm>
            <a:off x="4972099" y="6220790"/>
            <a:ext cx="577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HR42</a:t>
            </a:r>
          </a:p>
        </p:txBody>
      </p:sp>
      <p:sp>
        <p:nvSpPr>
          <p:cNvPr id="37" name="Metin kutusu 36">
            <a:extLst>
              <a:ext uri="{FF2B5EF4-FFF2-40B4-BE49-F238E27FC236}">
                <a16:creationId xmlns:a16="http://schemas.microsoft.com/office/drawing/2014/main" id="{97A6B302-6669-A5FA-85E3-500DF1411323}"/>
              </a:ext>
            </a:extLst>
          </p:cNvPr>
          <p:cNvSpPr txBox="1"/>
          <p:nvPr/>
        </p:nvSpPr>
        <p:spPr>
          <a:xfrm>
            <a:off x="5137209" y="6679201"/>
            <a:ext cx="412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98A7B6"/>
                </a:solidFill>
                <a:latin typeface="IBM Plex Sans" panose="020B0503050203000203" pitchFamily="34" charset="0"/>
              </a:rPr>
              <a:t>0,1</a:t>
            </a:r>
          </a:p>
        </p:txBody>
      </p:sp>
      <p:cxnSp>
        <p:nvCxnSpPr>
          <p:cNvPr id="38" name="Düz Bağlayıcı 37">
            <a:extLst>
              <a:ext uri="{FF2B5EF4-FFF2-40B4-BE49-F238E27FC236}">
                <a16:creationId xmlns:a16="http://schemas.microsoft.com/office/drawing/2014/main" id="{44BDF257-60F2-24FB-39FB-81C13F0FAC33}"/>
              </a:ext>
            </a:extLst>
          </p:cNvPr>
          <p:cNvCxnSpPr/>
          <p:nvPr/>
        </p:nvCxnSpPr>
        <p:spPr>
          <a:xfrm>
            <a:off x="286512" y="7648717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Metin kutusu 38">
            <a:extLst>
              <a:ext uri="{FF2B5EF4-FFF2-40B4-BE49-F238E27FC236}">
                <a16:creationId xmlns:a16="http://schemas.microsoft.com/office/drawing/2014/main" id="{D3F9398F-616B-F49B-2965-A8E335A03A27}"/>
              </a:ext>
            </a:extLst>
          </p:cNvPr>
          <p:cNvSpPr txBox="1"/>
          <p:nvPr/>
        </p:nvSpPr>
        <p:spPr>
          <a:xfrm>
            <a:off x="219773" y="7826658"/>
            <a:ext cx="1401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62A8E5"/>
                </a:solidFill>
                <a:latin typeface="IBM Plex Sans" panose="020B0503050203000203" pitchFamily="34" charset="0"/>
              </a:rPr>
              <a:t>Öngörülen Veriler</a:t>
            </a:r>
          </a:p>
        </p:txBody>
      </p:sp>
      <p:sp>
        <p:nvSpPr>
          <p:cNvPr id="40" name="Metin kutusu 39">
            <a:extLst>
              <a:ext uri="{FF2B5EF4-FFF2-40B4-BE49-F238E27FC236}">
                <a16:creationId xmlns:a16="http://schemas.microsoft.com/office/drawing/2014/main" id="{8FC29D3F-8BCE-69FA-9262-17F6B1794EDA}"/>
              </a:ext>
            </a:extLst>
          </p:cNvPr>
          <p:cNvSpPr txBox="1"/>
          <p:nvPr/>
        </p:nvSpPr>
        <p:spPr>
          <a:xfrm>
            <a:off x="219773" y="8540992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Hammadde Gideri</a:t>
            </a:r>
          </a:p>
        </p:txBody>
      </p:sp>
      <p:sp>
        <p:nvSpPr>
          <p:cNvPr id="41" name="Metin kutusu 40">
            <a:extLst>
              <a:ext uri="{FF2B5EF4-FFF2-40B4-BE49-F238E27FC236}">
                <a16:creationId xmlns:a16="http://schemas.microsoft.com/office/drawing/2014/main" id="{48868298-CC10-0619-C1B8-CD29E8C0C76E}"/>
              </a:ext>
            </a:extLst>
          </p:cNvPr>
          <p:cNvSpPr txBox="1"/>
          <p:nvPr/>
        </p:nvSpPr>
        <p:spPr>
          <a:xfrm>
            <a:off x="219773" y="9097127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Hurda Gideri</a:t>
            </a:r>
          </a:p>
        </p:txBody>
      </p:sp>
      <p:sp>
        <p:nvSpPr>
          <p:cNvPr id="42" name="Metin kutusu 41">
            <a:extLst>
              <a:ext uri="{FF2B5EF4-FFF2-40B4-BE49-F238E27FC236}">
                <a16:creationId xmlns:a16="http://schemas.microsoft.com/office/drawing/2014/main" id="{ACBEF3D8-9801-633E-75B7-99AB29632CDF}"/>
              </a:ext>
            </a:extLst>
          </p:cNvPr>
          <p:cNvSpPr txBox="1"/>
          <p:nvPr/>
        </p:nvSpPr>
        <p:spPr>
          <a:xfrm>
            <a:off x="219773" y="9437523"/>
            <a:ext cx="2287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Enerji, Personel, Sarf Malzeme</a:t>
            </a:r>
          </a:p>
        </p:txBody>
      </p:sp>
      <p:sp>
        <p:nvSpPr>
          <p:cNvPr id="43" name="Metin kutusu 42">
            <a:extLst>
              <a:ext uri="{FF2B5EF4-FFF2-40B4-BE49-F238E27FC236}">
                <a16:creationId xmlns:a16="http://schemas.microsoft.com/office/drawing/2014/main" id="{5DFDAA11-A826-C282-D977-453C23AA94B5}"/>
              </a:ext>
            </a:extLst>
          </p:cNvPr>
          <p:cNvSpPr txBox="1"/>
          <p:nvPr/>
        </p:nvSpPr>
        <p:spPr>
          <a:xfrm>
            <a:off x="219773" y="9777919"/>
            <a:ext cx="2036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Genel Gider &amp; Amortisman</a:t>
            </a:r>
          </a:p>
        </p:txBody>
      </p:sp>
      <p:sp>
        <p:nvSpPr>
          <p:cNvPr id="44" name="Metin kutusu 43">
            <a:extLst>
              <a:ext uri="{FF2B5EF4-FFF2-40B4-BE49-F238E27FC236}">
                <a16:creationId xmlns:a16="http://schemas.microsoft.com/office/drawing/2014/main" id="{D03796A1-2940-0F00-7907-5A0F59F97DD2}"/>
              </a:ext>
            </a:extLst>
          </p:cNvPr>
          <p:cNvSpPr txBox="1"/>
          <p:nvPr/>
        </p:nvSpPr>
        <p:spPr>
          <a:xfrm>
            <a:off x="219773" y="10118315"/>
            <a:ext cx="1120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86F6F"/>
                </a:solidFill>
                <a:latin typeface="IBM Plex Sans" panose="020B0503050203000203" pitchFamily="34" charset="0"/>
              </a:rPr>
              <a:t>Toplam Gider</a:t>
            </a:r>
          </a:p>
        </p:txBody>
      </p:sp>
      <p:sp>
        <p:nvSpPr>
          <p:cNvPr id="45" name="Metin kutusu 44">
            <a:extLst>
              <a:ext uri="{FF2B5EF4-FFF2-40B4-BE49-F238E27FC236}">
                <a16:creationId xmlns:a16="http://schemas.microsoft.com/office/drawing/2014/main" id="{D63FF803-C715-93A7-F5E0-8291C007CEFE}"/>
              </a:ext>
            </a:extLst>
          </p:cNvPr>
          <p:cNvSpPr txBox="1"/>
          <p:nvPr/>
        </p:nvSpPr>
        <p:spPr>
          <a:xfrm>
            <a:off x="4761888" y="8540992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$54.218</a:t>
            </a:r>
          </a:p>
        </p:txBody>
      </p:sp>
      <p:sp>
        <p:nvSpPr>
          <p:cNvPr id="46" name="Metin kutusu 45">
            <a:extLst>
              <a:ext uri="{FF2B5EF4-FFF2-40B4-BE49-F238E27FC236}">
                <a16:creationId xmlns:a16="http://schemas.microsoft.com/office/drawing/2014/main" id="{30AE8531-3DB7-5078-4460-B9D7ED07401A}"/>
              </a:ext>
            </a:extLst>
          </p:cNvPr>
          <p:cNvSpPr txBox="1"/>
          <p:nvPr/>
        </p:nvSpPr>
        <p:spPr>
          <a:xfrm>
            <a:off x="4854863" y="9097127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$1.627</a:t>
            </a:r>
          </a:p>
        </p:txBody>
      </p:sp>
      <p:sp>
        <p:nvSpPr>
          <p:cNvPr id="47" name="Metin kutusu 46">
            <a:extLst>
              <a:ext uri="{FF2B5EF4-FFF2-40B4-BE49-F238E27FC236}">
                <a16:creationId xmlns:a16="http://schemas.microsoft.com/office/drawing/2014/main" id="{B79124F7-5526-B79F-8916-E8C5F4B1D6ED}"/>
              </a:ext>
            </a:extLst>
          </p:cNvPr>
          <p:cNvSpPr txBox="1"/>
          <p:nvPr/>
        </p:nvSpPr>
        <p:spPr>
          <a:xfrm>
            <a:off x="4761888" y="9437523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$18.400</a:t>
            </a:r>
          </a:p>
        </p:txBody>
      </p:sp>
      <p:sp>
        <p:nvSpPr>
          <p:cNvPr id="48" name="Metin kutusu 47">
            <a:extLst>
              <a:ext uri="{FF2B5EF4-FFF2-40B4-BE49-F238E27FC236}">
                <a16:creationId xmlns:a16="http://schemas.microsoft.com/office/drawing/2014/main" id="{10E16658-EFF4-9637-DE1B-570308B0AA55}"/>
              </a:ext>
            </a:extLst>
          </p:cNvPr>
          <p:cNvSpPr txBox="1"/>
          <p:nvPr/>
        </p:nvSpPr>
        <p:spPr>
          <a:xfrm>
            <a:off x="4854863" y="9777919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$5.267</a:t>
            </a:r>
          </a:p>
        </p:txBody>
      </p:sp>
      <p:sp>
        <p:nvSpPr>
          <p:cNvPr id="49" name="Metin kutusu 48">
            <a:extLst>
              <a:ext uri="{FF2B5EF4-FFF2-40B4-BE49-F238E27FC236}">
                <a16:creationId xmlns:a16="http://schemas.microsoft.com/office/drawing/2014/main" id="{142FFC50-B8F2-600F-9D03-7BF80D5BA27A}"/>
              </a:ext>
            </a:extLst>
          </p:cNvPr>
          <p:cNvSpPr txBox="1"/>
          <p:nvPr/>
        </p:nvSpPr>
        <p:spPr>
          <a:xfrm>
            <a:off x="4761888" y="10118315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86F6F"/>
                </a:solidFill>
                <a:latin typeface="IBM Plex Sans" panose="020B0503050203000203" pitchFamily="34" charset="0"/>
              </a:rPr>
              <a:t>$79.	489</a:t>
            </a:r>
          </a:p>
        </p:txBody>
      </p:sp>
      <p:sp>
        <p:nvSpPr>
          <p:cNvPr id="50" name="Metin kutusu 49">
            <a:extLst>
              <a:ext uri="{FF2B5EF4-FFF2-40B4-BE49-F238E27FC236}">
                <a16:creationId xmlns:a16="http://schemas.microsoft.com/office/drawing/2014/main" id="{9097A820-A310-F101-DD58-E0270D176EDA}"/>
              </a:ext>
            </a:extLst>
          </p:cNvPr>
          <p:cNvSpPr txBox="1"/>
          <p:nvPr/>
        </p:nvSpPr>
        <p:spPr>
          <a:xfrm>
            <a:off x="350520" y="8797388"/>
            <a:ext cx="24612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14,5 kg x 3.280 Ad = 95.120 kg</a:t>
            </a:r>
            <a:endParaRPr lang="tr-TR" dirty="0">
              <a:solidFill>
                <a:srgbClr val="E7B75C"/>
              </a:solidFill>
            </a:endParaRPr>
          </a:p>
        </p:txBody>
      </p:sp>
      <p:sp>
        <p:nvSpPr>
          <p:cNvPr id="51" name="Metin kutusu 50">
            <a:extLst>
              <a:ext uri="{FF2B5EF4-FFF2-40B4-BE49-F238E27FC236}">
                <a16:creationId xmlns:a16="http://schemas.microsoft.com/office/drawing/2014/main" id="{0ECC690E-10BC-01AB-A6FC-A9D496F1F7CA}"/>
              </a:ext>
            </a:extLst>
          </p:cNvPr>
          <p:cNvSpPr txBox="1"/>
          <p:nvPr/>
        </p:nvSpPr>
        <p:spPr>
          <a:xfrm>
            <a:off x="219773" y="8205657"/>
            <a:ext cx="1778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EDF3"/>
                </a:solidFill>
                <a:latin typeface="IBM Plex Sans" panose="020B0503050203000203" pitchFamily="34" charset="0"/>
              </a:rPr>
              <a:t>Hammadde Tedarikçisi</a:t>
            </a:r>
          </a:p>
        </p:txBody>
      </p:sp>
      <p:sp>
        <p:nvSpPr>
          <p:cNvPr id="52" name="Metin kutusu 51">
            <a:extLst>
              <a:ext uri="{FF2B5EF4-FFF2-40B4-BE49-F238E27FC236}">
                <a16:creationId xmlns:a16="http://schemas.microsoft.com/office/drawing/2014/main" id="{9B9C946E-2041-9920-308D-BC410E40D072}"/>
              </a:ext>
            </a:extLst>
          </p:cNvPr>
          <p:cNvSpPr txBox="1"/>
          <p:nvPr/>
        </p:nvSpPr>
        <p:spPr>
          <a:xfrm>
            <a:off x="4101451" y="8202443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 err="1">
                <a:solidFill>
                  <a:srgbClr val="E7EDF3"/>
                </a:solidFill>
                <a:latin typeface="IBM Plex Sans" panose="020B0503050203000203" pitchFamily="34" charset="0"/>
              </a:rPr>
              <a:t>Nordhaus</a:t>
            </a:r>
            <a:r>
              <a:rPr lang="tr-TR" sz="1200" dirty="0">
                <a:solidFill>
                  <a:srgbClr val="E7EDF3"/>
                </a:solidFill>
                <a:latin typeface="IBM Plex Sans" panose="020B0503050203000203" pitchFamily="34" charset="0"/>
              </a:rPr>
              <a:t> Steel</a:t>
            </a:r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939245CA-E058-E718-DB39-9372A7C53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5398988" y="8249161"/>
            <a:ext cx="101671" cy="180000"/>
          </a:xfrm>
          <a:prstGeom prst="rect">
            <a:avLst/>
          </a:prstGeom>
        </p:spPr>
      </p:pic>
      <p:sp>
        <p:nvSpPr>
          <p:cNvPr id="54" name="Dikdörtgen: Köşeleri Yuvarlatılmış 53">
            <a:extLst>
              <a:ext uri="{FF2B5EF4-FFF2-40B4-BE49-F238E27FC236}">
                <a16:creationId xmlns:a16="http://schemas.microsoft.com/office/drawing/2014/main" id="{E7E3DA89-69DC-4F37-C06D-C61E6A1E8425}"/>
              </a:ext>
            </a:extLst>
          </p:cNvPr>
          <p:cNvSpPr/>
          <p:nvPr/>
        </p:nvSpPr>
        <p:spPr>
          <a:xfrm>
            <a:off x="991973" y="12979750"/>
            <a:ext cx="2160000" cy="180000"/>
          </a:xfrm>
          <a:prstGeom prst="roundRect">
            <a:avLst>
              <a:gd name="adj" fmla="val 50000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5" name="Dikdörtgen: Köşeleri Yuvarlatılmış 54">
            <a:extLst>
              <a:ext uri="{FF2B5EF4-FFF2-40B4-BE49-F238E27FC236}">
                <a16:creationId xmlns:a16="http://schemas.microsoft.com/office/drawing/2014/main" id="{21F723AE-D6F2-0AA1-B50F-CE5A95560123}"/>
              </a:ext>
            </a:extLst>
          </p:cNvPr>
          <p:cNvSpPr/>
          <p:nvPr/>
        </p:nvSpPr>
        <p:spPr>
          <a:xfrm>
            <a:off x="1007212" y="12997750"/>
            <a:ext cx="1080000" cy="144000"/>
          </a:xfrm>
          <a:prstGeom prst="roundRect">
            <a:avLst>
              <a:gd name="adj" fmla="val 50000"/>
            </a:avLst>
          </a:prstGeom>
          <a:solidFill>
            <a:srgbClr val="98A7B6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6" name="Metin kutusu 55">
            <a:extLst>
              <a:ext uri="{FF2B5EF4-FFF2-40B4-BE49-F238E27FC236}">
                <a16:creationId xmlns:a16="http://schemas.microsoft.com/office/drawing/2014/main" id="{6172F7A1-F7EA-4398-7A05-215F7EFA9B85}"/>
              </a:ext>
            </a:extLst>
          </p:cNvPr>
          <p:cNvSpPr txBox="1"/>
          <p:nvPr/>
        </p:nvSpPr>
        <p:spPr>
          <a:xfrm>
            <a:off x="243152" y="12938945"/>
            <a:ext cx="6559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latin typeface="IBM Plex Sans" panose="020B0503050203000203" pitchFamily="34" charset="0"/>
              </a:rPr>
              <a:t>Peşinat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BBDD4EC-873B-C56C-37AA-F2A5A60CE8B0}"/>
              </a:ext>
            </a:extLst>
          </p:cNvPr>
          <p:cNvSpPr/>
          <p:nvPr/>
        </p:nvSpPr>
        <p:spPr>
          <a:xfrm>
            <a:off x="1880545" y="12934466"/>
            <a:ext cx="261610" cy="261610"/>
          </a:xfrm>
          <a:prstGeom prst="ellipse">
            <a:avLst/>
          </a:prstGeom>
          <a:solidFill>
            <a:srgbClr val="E7ED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8" name="Metin kutusu 57">
            <a:extLst>
              <a:ext uri="{FF2B5EF4-FFF2-40B4-BE49-F238E27FC236}">
                <a16:creationId xmlns:a16="http://schemas.microsoft.com/office/drawing/2014/main" id="{156C44BA-C90F-8DEC-0E6F-C0F03EC3A6C0}"/>
              </a:ext>
            </a:extLst>
          </p:cNvPr>
          <p:cNvSpPr txBox="1"/>
          <p:nvPr/>
        </p:nvSpPr>
        <p:spPr>
          <a:xfrm>
            <a:off x="3166297" y="12938945"/>
            <a:ext cx="540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100" dirty="0">
                <a:latin typeface="IBM Plex Sans" panose="020B0503050203000203" pitchFamily="34" charset="0"/>
              </a:rPr>
              <a:t>% 30</a:t>
            </a:r>
          </a:p>
        </p:txBody>
      </p:sp>
      <p:sp>
        <p:nvSpPr>
          <p:cNvPr id="59" name="Dikdörtgen: Köşeleri Yuvarlatılmış 58">
            <a:extLst>
              <a:ext uri="{FF2B5EF4-FFF2-40B4-BE49-F238E27FC236}">
                <a16:creationId xmlns:a16="http://schemas.microsoft.com/office/drawing/2014/main" id="{0A729370-018A-E8B4-0D43-E284A70F6A2D}"/>
              </a:ext>
            </a:extLst>
          </p:cNvPr>
          <p:cNvSpPr/>
          <p:nvPr/>
        </p:nvSpPr>
        <p:spPr>
          <a:xfrm>
            <a:off x="991973" y="13467870"/>
            <a:ext cx="2160000" cy="180000"/>
          </a:xfrm>
          <a:prstGeom prst="roundRect">
            <a:avLst>
              <a:gd name="adj" fmla="val 50000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0" name="Dikdörtgen: Köşeleri Yuvarlatılmış 59">
            <a:extLst>
              <a:ext uri="{FF2B5EF4-FFF2-40B4-BE49-F238E27FC236}">
                <a16:creationId xmlns:a16="http://schemas.microsoft.com/office/drawing/2014/main" id="{A3C3ABE9-2914-CFEC-6E06-E59E4E5AD7D4}"/>
              </a:ext>
            </a:extLst>
          </p:cNvPr>
          <p:cNvSpPr/>
          <p:nvPr/>
        </p:nvSpPr>
        <p:spPr>
          <a:xfrm>
            <a:off x="1007212" y="13485870"/>
            <a:ext cx="1404000" cy="144000"/>
          </a:xfrm>
          <a:prstGeom prst="roundRect">
            <a:avLst>
              <a:gd name="adj" fmla="val 50000"/>
            </a:avLst>
          </a:prstGeom>
          <a:solidFill>
            <a:srgbClr val="98A7B6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1" name="Metin kutusu 60">
            <a:extLst>
              <a:ext uri="{FF2B5EF4-FFF2-40B4-BE49-F238E27FC236}">
                <a16:creationId xmlns:a16="http://schemas.microsoft.com/office/drawing/2014/main" id="{3BD638AB-0BBE-6FA9-3529-A22B581910E8}"/>
              </a:ext>
            </a:extLst>
          </p:cNvPr>
          <p:cNvSpPr txBox="1"/>
          <p:nvPr/>
        </p:nvSpPr>
        <p:spPr>
          <a:xfrm>
            <a:off x="243152" y="13427065"/>
            <a:ext cx="7328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latin typeface="IBM Plex Sans" panose="020B0503050203000203" pitchFamily="34" charset="0"/>
              </a:rPr>
              <a:t>Teslimat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2AB43A8-37EF-713E-48AA-C97E085E63D6}"/>
              </a:ext>
            </a:extLst>
          </p:cNvPr>
          <p:cNvSpPr/>
          <p:nvPr/>
        </p:nvSpPr>
        <p:spPr>
          <a:xfrm>
            <a:off x="2293358" y="13422586"/>
            <a:ext cx="261610" cy="261610"/>
          </a:xfrm>
          <a:prstGeom prst="ellipse">
            <a:avLst/>
          </a:prstGeom>
          <a:solidFill>
            <a:srgbClr val="E7ED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3" name="Metin kutusu 62">
            <a:extLst>
              <a:ext uri="{FF2B5EF4-FFF2-40B4-BE49-F238E27FC236}">
                <a16:creationId xmlns:a16="http://schemas.microsoft.com/office/drawing/2014/main" id="{B01E41FD-7C47-8C29-1733-416771E2FDAE}"/>
              </a:ext>
            </a:extLst>
          </p:cNvPr>
          <p:cNvSpPr txBox="1"/>
          <p:nvPr/>
        </p:nvSpPr>
        <p:spPr>
          <a:xfrm>
            <a:off x="3166297" y="13427065"/>
            <a:ext cx="540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100" dirty="0">
                <a:latin typeface="IBM Plex Sans" panose="020B0503050203000203" pitchFamily="34" charset="0"/>
              </a:rPr>
              <a:t>9 Ay</a:t>
            </a:r>
          </a:p>
        </p:txBody>
      </p:sp>
      <p:sp>
        <p:nvSpPr>
          <p:cNvPr id="64" name="Dikdörtgen: Köşeleri Yuvarlatılmış 63">
            <a:extLst>
              <a:ext uri="{FF2B5EF4-FFF2-40B4-BE49-F238E27FC236}">
                <a16:creationId xmlns:a16="http://schemas.microsoft.com/office/drawing/2014/main" id="{3E5A6E64-00B9-B7A4-49AF-BACB464A1327}"/>
              </a:ext>
            </a:extLst>
          </p:cNvPr>
          <p:cNvSpPr/>
          <p:nvPr/>
        </p:nvSpPr>
        <p:spPr>
          <a:xfrm>
            <a:off x="991973" y="13964948"/>
            <a:ext cx="2160000" cy="180000"/>
          </a:xfrm>
          <a:prstGeom prst="roundRect">
            <a:avLst>
              <a:gd name="adj" fmla="val 50000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5" name="Dikdörtgen: Köşeleri Yuvarlatılmış 64">
            <a:extLst>
              <a:ext uri="{FF2B5EF4-FFF2-40B4-BE49-F238E27FC236}">
                <a16:creationId xmlns:a16="http://schemas.microsoft.com/office/drawing/2014/main" id="{5A51A60A-4C88-22BE-89BC-A2DD0AD75609}"/>
              </a:ext>
            </a:extLst>
          </p:cNvPr>
          <p:cNvSpPr/>
          <p:nvPr/>
        </p:nvSpPr>
        <p:spPr>
          <a:xfrm>
            <a:off x="1007212" y="13982948"/>
            <a:ext cx="720000" cy="144000"/>
          </a:xfrm>
          <a:prstGeom prst="roundRect">
            <a:avLst>
              <a:gd name="adj" fmla="val 50000"/>
            </a:avLst>
          </a:prstGeom>
          <a:solidFill>
            <a:srgbClr val="98A7B6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6" name="Metin kutusu 65">
            <a:extLst>
              <a:ext uri="{FF2B5EF4-FFF2-40B4-BE49-F238E27FC236}">
                <a16:creationId xmlns:a16="http://schemas.microsoft.com/office/drawing/2014/main" id="{3A16F65A-8423-9526-6712-D2F03A6272B6}"/>
              </a:ext>
            </a:extLst>
          </p:cNvPr>
          <p:cNvSpPr txBox="1"/>
          <p:nvPr/>
        </p:nvSpPr>
        <p:spPr>
          <a:xfrm>
            <a:off x="243152" y="13924143"/>
            <a:ext cx="7457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latin typeface="IBM Plex Sans" panose="020B0503050203000203" pitchFamily="34" charset="0"/>
              </a:rPr>
              <a:t>Kar Marjı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E5254C0-8341-0736-A595-084B51B355FD}"/>
              </a:ext>
            </a:extLst>
          </p:cNvPr>
          <p:cNvSpPr/>
          <p:nvPr/>
        </p:nvSpPr>
        <p:spPr>
          <a:xfrm>
            <a:off x="1582704" y="13919664"/>
            <a:ext cx="261610" cy="261610"/>
          </a:xfrm>
          <a:prstGeom prst="ellipse">
            <a:avLst/>
          </a:prstGeom>
          <a:solidFill>
            <a:srgbClr val="E7ED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8" name="Metin kutusu 67">
            <a:extLst>
              <a:ext uri="{FF2B5EF4-FFF2-40B4-BE49-F238E27FC236}">
                <a16:creationId xmlns:a16="http://schemas.microsoft.com/office/drawing/2014/main" id="{1CAB6D67-031E-2E2F-08DE-73C319DE2C06}"/>
              </a:ext>
            </a:extLst>
          </p:cNvPr>
          <p:cNvSpPr txBox="1"/>
          <p:nvPr/>
        </p:nvSpPr>
        <p:spPr>
          <a:xfrm>
            <a:off x="3166297" y="13924143"/>
            <a:ext cx="540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100" dirty="0">
                <a:latin typeface="IBM Plex Sans" panose="020B0503050203000203" pitchFamily="34" charset="0"/>
              </a:rPr>
              <a:t>% 25</a:t>
            </a:r>
          </a:p>
        </p:txBody>
      </p:sp>
      <p:sp>
        <p:nvSpPr>
          <p:cNvPr id="69" name="Dikdörtgen: Köşeleri Yuvarlatılmış 68">
            <a:extLst>
              <a:ext uri="{FF2B5EF4-FFF2-40B4-BE49-F238E27FC236}">
                <a16:creationId xmlns:a16="http://schemas.microsoft.com/office/drawing/2014/main" id="{C5FAAD8E-DFD0-6EDE-2996-CDAB65954056}"/>
              </a:ext>
            </a:extLst>
          </p:cNvPr>
          <p:cNvSpPr/>
          <p:nvPr/>
        </p:nvSpPr>
        <p:spPr>
          <a:xfrm>
            <a:off x="3872281" y="12934466"/>
            <a:ext cx="1672194" cy="1246808"/>
          </a:xfrm>
          <a:prstGeom prst="roundRect">
            <a:avLst>
              <a:gd name="adj" fmla="val 8904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0" name="Metin kutusu 69">
            <a:extLst>
              <a:ext uri="{FF2B5EF4-FFF2-40B4-BE49-F238E27FC236}">
                <a16:creationId xmlns:a16="http://schemas.microsoft.com/office/drawing/2014/main" id="{73846DA3-0965-577A-A6F2-DE82C67F2A68}"/>
              </a:ext>
            </a:extLst>
          </p:cNvPr>
          <p:cNvSpPr txBox="1"/>
          <p:nvPr/>
        </p:nvSpPr>
        <p:spPr>
          <a:xfrm>
            <a:off x="3867850" y="12938945"/>
            <a:ext cx="1233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latin typeface="IBM Plex Sans" panose="020B0503050203000203" pitchFamily="34" charset="0"/>
              </a:rPr>
              <a:t>İşi Alma İhtimali</a:t>
            </a:r>
          </a:p>
        </p:txBody>
      </p:sp>
      <p:sp>
        <p:nvSpPr>
          <p:cNvPr id="71" name="Dikdörtgen: Köşeleri Yuvarlatılmış 70">
            <a:extLst>
              <a:ext uri="{FF2B5EF4-FFF2-40B4-BE49-F238E27FC236}">
                <a16:creationId xmlns:a16="http://schemas.microsoft.com/office/drawing/2014/main" id="{6FEE74CE-6593-E2E6-5153-E780F0D5F301}"/>
              </a:ext>
            </a:extLst>
          </p:cNvPr>
          <p:cNvSpPr/>
          <p:nvPr/>
        </p:nvSpPr>
        <p:spPr>
          <a:xfrm>
            <a:off x="244795" y="11599420"/>
            <a:ext cx="5299679" cy="817444"/>
          </a:xfrm>
          <a:prstGeom prst="roundRect">
            <a:avLst>
              <a:gd name="adj" fmla="val 8904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pSp>
        <p:nvGrpSpPr>
          <p:cNvPr id="72" name="Grup 71">
            <a:extLst>
              <a:ext uri="{FF2B5EF4-FFF2-40B4-BE49-F238E27FC236}">
                <a16:creationId xmlns:a16="http://schemas.microsoft.com/office/drawing/2014/main" id="{E4A8F9C4-ACC6-4E24-85E3-DEEB4A618FD1}"/>
              </a:ext>
            </a:extLst>
          </p:cNvPr>
          <p:cNvGrpSpPr/>
          <p:nvPr/>
        </p:nvGrpSpPr>
        <p:grpSpPr>
          <a:xfrm>
            <a:off x="457205" y="11703492"/>
            <a:ext cx="4709149" cy="729524"/>
            <a:chOff x="5319411" y="1786323"/>
            <a:chExt cx="4709149" cy="729524"/>
          </a:xfrm>
        </p:grpSpPr>
        <p:sp>
          <p:nvSpPr>
            <p:cNvPr id="73" name="Dikdörtgen 72">
              <a:extLst>
                <a:ext uri="{FF2B5EF4-FFF2-40B4-BE49-F238E27FC236}">
                  <a16:creationId xmlns:a16="http://schemas.microsoft.com/office/drawing/2014/main" id="{779F2AB0-B156-5F6C-84FA-663CE614D946}"/>
                </a:ext>
              </a:extLst>
            </p:cNvPr>
            <p:cNvSpPr/>
            <p:nvPr/>
          </p:nvSpPr>
          <p:spPr>
            <a:xfrm rot="5400000">
              <a:off x="6275560" y="1492644"/>
              <a:ext cx="139433" cy="974823"/>
            </a:xfrm>
            <a:prstGeom prst="rect">
              <a:avLst/>
            </a:prstGeom>
            <a:solidFill>
              <a:srgbClr val="62A8E5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74" name="Resim 73">
              <a:extLst>
                <a:ext uri="{FF2B5EF4-FFF2-40B4-BE49-F238E27FC236}">
                  <a16:creationId xmlns:a16="http://schemas.microsoft.com/office/drawing/2014/main" id="{89A0B1BC-9B4F-51AE-24FC-171846569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19411" y="1897004"/>
              <a:ext cx="413195" cy="312039"/>
            </a:xfrm>
            <a:prstGeom prst="rect">
              <a:avLst/>
            </a:prstGeom>
          </p:spPr>
        </p:pic>
        <p:sp>
          <p:nvSpPr>
            <p:cNvPr id="75" name="Metin kutusu 74">
              <a:extLst>
                <a:ext uri="{FF2B5EF4-FFF2-40B4-BE49-F238E27FC236}">
                  <a16:creationId xmlns:a16="http://schemas.microsoft.com/office/drawing/2014/main" id="{03FC869E-3CBF-2AFE-60B6-8B948DAF88E0}"/>
                </a:ext>
              </a:extLst>
            </p:cNvPr>
            <p:cNvSpPr txBox="1"/>
            <p:nvPr/>
          </p:nvSpPr>
          <p:spPr>
            <a:xfrm>
              <a:off x="6633435" y="2285015"/>
              <a:ext cx="2535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3</a:t>
              </a:r>
            </a:p>
          </p:txBody>
        </p:sp>
        <p:cxnSp>
          <p:nvCxnSpPr>
            <p:cNvPr id="76" name="Düz Bağlayıcı 75">
              <a:extLst>
                <a:ext uri="{FF2B5EF4-FFF2-40B4-BE49-F238E27FC236}">
                  <a16:creationId xmlns:a16="http://schemas.microsoft.com/office/drawing/2014/main" id="{FF6ACAD1-1911-5B28-5D34-7CB60CAE1C62}"/>
                </a:ext>
              </a:extLst>
            </p:cNvPr>
            <p:cNvCxnSpPr>
              <a:cxnSpLocks/>
            </p:cNvCxnSpPr>
            <p:nvPr/>
          </p:nvCxnSpPr>
          <p:spPr>
            <a:xfrm>
              <a:off x="5852160" y="1786323"/>
              <a:ext cx="0" cy="5334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Düz Bağlayıcı 76">
              <a:extLst>
                <a:ext uri="{FF2B5EF4-FFF2-40B4-BE49-F238E27FC236}">
                  <a16:creationId xmlns:a16="http://schemas.microsoft.com/office/drawing/2014/main" id="{D1877DB2-132C-83F0-4892-D0AD98FC7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23636" y="2053023"/>
              <a:ext cx="4204924" cy="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Düz Bağlayıcı 77">
              <a:extLst>
                <a:ext uri="{FF2B5EF4-FFF2-40B4-BE49-F238E27FC236}">
                  <a16:creationId xmlns:a16="http://schemas.microsoft.com/office/drawing/2014/main" id="{673523D6-277A-7566-5CC6-4A4298674EF4}"/>
                </a:ext>
              </a:extLst>
            </p:cNvPr>
            <p:cNvCxnSpPr>
              <a:cxnSpLocks/>
            </p:cNvCxnSpPr>
            <p:nvPr/>
          </p:nvCxnSpPr>
          <p:spPr>
            <a:xfrm>
              <a:off x="9484452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Metin kutusu 78">
              <a:extLst>
                <a:ext uri="{FF2B5EF4-FFF2-40B4-BE49-F238E27FC236}">
                  <a16:creationId xmlns:a16="http://schemas.microsoft.com/office/drawing/2014/main" id="{DE38A719-7EC2-F1B4-8512-0FE028F1FEC4}"/>
                </a:ext>
              </a:extLst>
            </p:cNvPr>
            <p:cNvSpPr txBox="1"/>
            <p:nvPr/>
          </p:nvSpPr>
          <p:spPr>
            <a:xfrm>
              <a:off x="7541508" y="2285015"/>
              <a:ext cx="2535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6</a:t>
              </a:r>
            </a:p>
          </p:txBody>
        </p:sp>
        <p:sp>
          <p:nvSpPr>
            <p:cNvPr id="80" name="Metin kutusu 79">
              <a:extLst>
                <a:ext uri="{FF2B5EF4-FFF2-40B4-BE49-F238E27FC236}">
                  <a16:creationId xmlns:a16="http://schemas.microsoft.com/office/drawing/2014/main" id="{41E3E699-FF3E-0C0F-EA43-11FDAC763173}"/>
                </a:ext>
              </a:extLst>
            </p:cNvPr>
            <p:cNvSpPr txBox="1"/>
            <p:nvPr/>
          </p:nvSpPr>
          <p:spPr>
            <a:xfrm>
              <a:off x="8449581" y="2285015"/>
              <a:ext cx="2535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9</a:t>
              </a:r>
            </a:p>
          </p:txBody>
        </p:sp>
        <p:sp>
          <p:nvSpPr>
            <p:cNvPr id="81" name="Metin kutusu 80">
              <a:extLst>
                <a:ext uri="{FF2B5EF4-FFF2-40B4-BE49-F238E27FC236}">
                  <a16:creationId xmlns:a16="http://schemas.microsoft.com/office/drawing/2014/main" id="{84BD4C16-4BA8-6D55-75A9-C4698307A9CC}"/>
                </a:ext>
              </a:extLst>
            </p:cNvPr>
            <p:cNvSpPr txBox="1"/>
            <p:nvPr/>
          </p:nvSpPr>
          <p:spPr>
            <a:xfrm>
              <a:off x="9323190" y="2285015"/>
              <a:ext cx="32252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12</a:t>
              </a:r>
            </a:p>
          </p:txBody>
        </p:sp>
        <p:sp>
          <p:nvSpPr>
            <p:cNvPr id="82" name="Dikdörtgen 81">
              <a:extLst>
                <a:ext uri="{FF2B5EF4-FFF2-40B4-BE49-F238E27FC236}">
                  <a16:creationId xmlns:a16="http://schemas.microsoft.com/office/drawing/2014/main" id="{21B83144-AA34-C673-EB08-3E198E849463}"/>
                </a:ext>
              </a:extLst>
            </p:cNvPr>
            <p:cNvSpPr/>
            <p:nvPr/>
          </p:nvSpPr>
          <p:spPr>
            <a:xfrm rot="5400000">
              <a:off x="8506652" y="1374670"/>
              <a:ext cx="139433" cy="1210771"/>
            </a:xfrm>
            <a:prstGeom prst="rect">
              <a:avLst/>
            </a:prstGeom>
            <a:solidFill>
              <a:srgbClr val="62A8E5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3" name="Dikdörtgen 82">
              <a:extLst>
                <a:ext uri="{FF2B5EF4-FFF2-40B4-BE49-F238E27FC236}">
                  <a16:creationId xmlns:a16="http://schemas.microsoft.com/office/drawing/2014/main" id="{8D124C39-0C84-1A6A-4929-173C389DCBD3}"/>
                </a:ext>
              </a:extLst>
            </p:cNvPr>
            <p:cNvSpPr/>
            <p:nvPr/>
          </p:nvSpPr>
          <p:spPr>
            <a:xfrm rot="5400000">
              <a:off x="6844707" y="1073241"/>
              <a:ext cx="139433" cy="2113121"/>
            </a:xfrm>
            <a:prstGeom prst="rect">
              <a:avLst/>
            </a:prstGeom>
            <a:solidFill>
              <a:srgbClr val="E7B75C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84" name="Düz Bağlayıcı 83">
              <a:extLst>
                <a:ext uri="{FF2B5EF4-FFF2-40B4-BE49-F238E27FC236}">
                  <a16:creationId xmlns:a16="http://schemas.microsoft.com/office/drawing/2014/main" id="{6E3F0FEA-7B05-88C1-1DAD-E5DC3FB69084}"/>
                </a:ext>
              </a:extLst>
            </p:cNvPr>
            <p:cNvCxnSpPr>
              <a:cxnSpLocks/>
            </p:cNvCxnSpPr>
            <p:nvPr/>
          </p:nvCxnSpPr>
          <p:spPr>
            <a:xfrm>
              <a:off x="6154851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Düz Bağlayıcı 84">
              <a:extLst>
                <a:ext uri="{FF2B5EF4-FFF2-40B4-BE49-F238E27FC236}">
                  <a16:creationId xmlns:a16="http://schemas.microsoft.com/office/drawing/2014/main" id="{BA3A040D-47A4-A4B5-09BD-9A85808D9489}"/>
                </a:ext>
              </a:extLst>
            </p:cNvPr>
            <p:cNvCxnSpPr>
              <a:cxnSpLocks/>
            </p:cNvCxnSpPr>
            <p:nvPr/>
          </p:nvCxnSpPr>
          <p:spPr>
            <a:xfrm>
              <a:off x="6457542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Düz Bağlayıcı 85">
              <a:extLst>
                <a:ext uri="{FF2B5EF4-FFF2-40B4-BE49-F238E27FC236}">
                  <a16:creationId xmlns:a16="http://schemas.microsoft.com/office/drawing/2014/main" id="{FEFE7D81-5537-71B2-C2F4-57AD2D3F254F}"/>
                </a:ext>
              </a:extLst>
            </p:cNvPr>
            <p:cNvCxnSpPr>
              <a:cxnSpLocks/>
            </p:cNvCxnSpPr>
            <p:nvPr/>
          </p:nvCxnSpPr>
          <p:spPr>
            <a:xfrm>
              <a:off x="6760233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Düz Bağlayıcı 86">
              <a:extLst>
                <a:ext uri="{FF2B5EF4-FFF2-40B4-BE49-F238E27FC236}">
                  <a16:creationId xmlns:a16="http://schemas.microsoft.com/office/drawing/2014/main" id="{FBBAB7DF-F24F-631D-53C0-353EE7764AD0}"/>
                </a:ext>
              </a:extLst>
            </p:cNvPr>
            <p:cNvCxnSpPr>
              <a:cxnSpLocks/>
            </p:cNvCxnSpPr>
            <p:nvPr/>
          </p:nvCxnSpPr>
          <p:spPr>
            <a:xfrm>
              <a:off x="7062924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Düz Bağlayıcı 87">
              <a:extLst>
                <a:ext uri="{FF2B5EF4-FFF2-40B4-BE49-F238E27FC236}">
                  <a16:creationId xmlns:a16="http://schemas.microsoft.com/office/drawing/2014/main" id="{98D008D0-6966-5600-7213-7AD25816B41B}"/>
                </a:ext>
              </a:extLst>
            </p:cNvPr>
            <p:cNvCxnSpPr>
              <a:cxnSpLocks/>
            </p:cNvCxnSpPr>
            <p:nvPr/>
          </p:nvCxnSpPr>
          <p:spPr>
            <a:xfrm>
              <a:off x="7365615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Düz Bağlayıcı 88">
              <a:extLst>
                <a:ext uri="{FF2B5EF4-FFF2-40B4-BE49-F238E27FC236}">
                  <a16:creationId xmlns:a16="http://schemas.microsoft.com/office/drawing/2014/main" id="{12958F27-E8F7-CDBA-770F-40CD66B5BE70}"/>
                </a:ext>
              </a:extLst>
            </p:cNvPr>
            <p:cNvCxnSpPr>
              <a:cxnSpLocks/>
            </p:cNvCxnSpPr>
            <p:nvPr/>
          </p:nvCxnSpPr>
          <p:spPr>
            <a:xfrm>
              <a:off x="7668306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Düz Bağlayıcı 89">
              <a:extLst>
                <a:ext uri="{FF2B5EF4-FFF2-40B4-BE49-F238E27FC236}">
                  <a16:creationId xmlns:a16="http://schemas.microsoft.com/office/drawing/2014/main" id="{6CE51F3C-32C1-CC2B-3E50-75D9C1E156E7}"/>
                </a:ext>
              </a:extLst>
            </p:cNvPr>
            <p:cNvCxnSpPr>
              <a:cxnSpLocks/>
            </p:cNvCxnSpPr>
            <p:nvPr/>
          </p:nvCxnSpPr>
          <p:spPr>
            <a:xfrm>
              <a:off x="7970997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Düz Bağlayıcı 90">
              <a:extLst>
                <a:ext uri="{FF2B5EF4-FFF2-40B4-BE49-F238E27FC236}">
                  <a16:creationId xmlns:a16="http://schemas.microsoft.com/office/drawing/2014/main" id="{E4801802-2EE6-607E-59AE-C29EA0CF0367}"/>
                </a:ext>
              </a:extLst>
            </p:cNvPr>
            <p:cNvCxnSpPr>
              <a:cxnSpLocks/>
            </p:cNvCxnSpPr>
            <p:nvPr/>
          </p:nvCxnSpPr>
          <p:spPr>
            <a:xfrm>
              <a:off x="8273688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Düz Bağlayıcı 91">
              <a:extLst>
                <a:ext uri="{FF2B5EF4-FFF2-40B4-BE49-F238E27FC236}">
                  <a16:creationId xmlns:a16="http://schemas.microsoft.com/office/drawing/2014/main" id="{C5AF74F5-8875-ED82-0C5D-165272D66CD8}"/>
                </a:ext>
              </a:extLst>
            </p:cNvPr>
            <p:cNvCxnSpPr>
              <a:cxnSpLocks/>
            </p:cNvCxnSpPr>
            <p:nvPr/>
          </p:nvCxnSpPr>
          <p:spPr>
            <a:xfrm>
              <a:off x="8576379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Düz Bağlayıcı 92">
              <a:extLst>
                <a:ext uri="{FF2B5EF4-FFF2-40B4-BE49-F238E27FC236}">
                  <a16:creationId xmlns:a16="http://schemas.microsoft.com/office/drawing/2014/main" id="{27C7E07B-CD24-2AC3-0F77-3B733950BADD}"/>
                </a:ext>
              </a:extLst>
            </p:cNvPr>
            <p:cNvCxnSpPr>
              <a:cxnSpLocks/>
            </p:cNvCxnSpPr>
            <p:nvPr/>
          </p:nvCxnSpPr>
          <p:spPr>
            <a:xfrm>
              <a:off x="8879070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Düz Bağlayıcı 93">
              <a:extLst>
                <a:ext uri="{FF2B5EF4-FFF2-40B4-BE49-F238E27FC236}">
                  <a16:creationId xmlns:a16="http://schemas.microsoft.com/office/drawing/2014/main" id="{34CB55E8-471A-09C3-8741-F0452A2E9E31}"/>
                </a:ext>
              </a:extLst>
            </p:cNvPr>
            <p:cNvCxnSpPr>
              <a:cxnSpLocks/>
            </p:cNvCxnSpPr>
            <p:nvPr/>
          </p:nvCxnSpPr>
          <p:spPr>
            <a:xfrm>
              <a:off x="9181761" y="1855023"/>
              <a:ext cx="0" cy="396000"/>
            </a:xfrm>
            <a:prstGeom prst="line">
              <a:avLst/>
            </a:prstGeom>
            <a:ln w="12700">
              <a:solidFill>
                <a:srgbClr val="E7EDF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5" name="Grafik 94">
            <a:extLst>
              <a:ext uri="{FF2B5EF4-FFF2-40B4-BE49-F238E27FC236}">
                <a16:creationId xmlns:a16="http://schemas.microsoft.com/office/drawing/2014/main" id="{AA48E77E-946D-F4B8-805A-707682870D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5398988" y="11901377"/>
            <a:ext cx="101671" cy="180000"/>
          </a:xfrm>
          <a:prstGeom prst="rect">
            <a:avLst/>
          </a:prstGeom>
        </p:spPr>
      </p:pic>
      <p:sp>
        <p:nvSpPr>
          <p:cNvPr id="97" name="Dikdörtgen: Köşeleri Yuvarlatılmış 96">
            <a:extLst>
              <a:ext uri="{FF2B5EF4-FFF2-40B4-BE49-F238E27FC236}">
                <a16:creationId xmlns:a16="http://schemas.microsoft.com/office/drawing/2014/main" id="{C3AF1154-0A4C-4727-1CA3-D4C05DEF925E}"/>
              </a:ext>
            </a:extLst>
          </p:cNvPr>
          <p:cNvSpPr/>
          <p:nvPr/>
        </p:nvSpPr>
        <p:spPr>
          <a:xfrm>
            <a:off x="246773" y="10845841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4BE394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8" name="Metin kutusu 97">
            <a:extLst>
              <a:ext uri="{FF2B5EF4-FFF2-40B4-BE49-F238E27FC236}">
                <a16:creationId xmlns:a16="http://schemas.microsoft.com/office/drawing/2014/main" id="{74C2B4BA-F8BA-1230-2A83-0A37C7AA1ADA}"/>
              </a:ext>
            </a:extLst>
          </p:cNvPr>
          <p:cNvSpPr txBox="1"/>
          <p:nvPr/>
        </p:nvSpPr>
        <p:spPr>
          <a:xfrm>
            <a:off x="478803" y="10820425"/>
            <a:ext cx="7187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Vardiya 1</a:t>
            </a:r>
          </a:p>
        </p:txBody>
      </p:sp>
      <p:sp>
        <p:nvSpPr>
          <p:cNvPr id="99" name="Dikdörtgen: Köşeleri Yuvarlatılmış 98">
            <a:extLst>
              <a:ext uri="{FF2B5EF4-FFF2-40B4-BE49-F238E27FC236}">
                <a16:creationId xmlns:a16="http://schemas.microsoft.com/office/drawing/2014/main" id="{8CE2CE2B-72DB-050F-3018-C91B59C79E42}"/>
              </a:ext>
            </a:extLst>
          </p:cNvPr>
          <p:cNvSpPr/>
          <p:nvPr/>
        </p:nvSpPr>
        <p:spPr>
          <a:xfrm>
            <a:off x="245813" y="11160969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4BE394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0" name="Metin kutusu 99">
            <a:extLst>
              <a:ext uri="{FF2B5EF4-FFF2-40B4-BE49-F238E27FC236}">
                <a16:creationId xmlns:a16="http://schemas.microsoft.com/office/drawing/2014/main" id="{38D60D0C-B9F6-401E-9157-4D3A8B9465BD}"/>
              </a:ext>
            </a:extLst>
          </p:cNvPr>
          <p:cNvSpPr txBox="1"/>
          <p:nvPr/>
        </p:nvSpPr>
        <p:spPr>
          <a:xfrm>
            <a:off x="477843" y="11135553"/>
            <a:ext cx="8190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Mesai + 4 </a:t>
            </a:r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sa</a:t>
            </a:r>
            <a:endParaRPr lang="tr-TR" sz="900" dirty="0">
              <a:solidFill>
                <a:srgbClr val="98A7B6"/>
              </a:solidFill>
              <a:latin typeface="IBM Plex Sans" panose="020B0503050203000203" pitchFamily="34" charset="0"/>
            </a:endParaRPr>
          </a:p>
        </p:txBody>
      </p:sp>
      <p:sp>
        <p:nvSpPr>
          <p:cNvPr id="101" name="Dikdörtgen: Köşeleri Yuvarlatılmış 100">
            <a:extLst>
              <a:ext uri="{FF2B5EF4-FFF2-40B4-BE49-F238E27FC236}">
                <a16:creationId xmlns:a16="http://schemas.microsoft.com/office/drawing/2014/main" id="{22CD2F2C-8697-3005-9254-95B79AA7F27E}"/>
              </a:ext>
            </a:extLst>
          </p:cNvPr>
          <p:cNvSpPr/>
          <p:nvPr/>
        </p:nvSpPr>
        <p:spPr>
          <a:xfrm>
            <a:off x="2093062" y="10845841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2" name="Metin kutusu 101">
            <a:extLst>
              <a:ext uri="{FF2B5EF4-FFF2-40B4-BE49-F238E27FC236}">
                <a16:creationId xmlns:a16="http://schemas.microsoft.com/office/drawing/2014/main" id="{DD7ECC57-E8B1-4B0C-6FA4-2DB7B2F44B4E}"/>
              </a:ext>
            </a:extLst>
          </p:cNvPr>
          <p:cNvSpPr txBox="1"/>
          <p:nvPr/>
        </p:nvSpPr>
        <p:spPr>
          <a:xfrm>
            <a:off x="2325092" y="10820425"/>
            <a:ext cx="7187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Vardiya 2</a:t>
            </a:r>
          </a:p>
        </p:txBody>
      </p:sp>
      <p:sp>
        <p:nvSpPr>
          <p:cNvPr id="103" name="Dikdörtgen: Köşeleri Yuvarlatılmış 102">
            <a:extLst>
              <a:ext uri="{FF2B5EF4-FFF2-40B4-BE49-F238E27FC236}">
                <a16:creationId xmlns:a16="http://schemas.microsoft.com/office/drawing/2014/main" id="{68EE627E-FEBB-0A08-90F8-68426017A8A2}"/>
              </a:ext>
            </a:extLst>
          </p:cNvPr>
          <p:cNvSpPr/>
          <p:nvPr/>
        </p:nvSpPr>
        <p:spPr>
          <a:xfrm>
            <a:off x="2092102" y="11160969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4" name="Metin kutusu 103">
            <a:extLst>
              <a:ext uri="{FF2B5EF4-FFF2-40B4-BE49-F238E27FC236}">
                <a16:creationId xmlns:a16="http://schemas.microsoft.com/office/drawing/2014/main" id="{B2641AB4-4645-828F-54A5-6D9AB1CCEA7A}"/>
              </a:ext>
            </a:extLst>
          </p:cNvPr>
          <p:cNvSpPr txBox="1"/>
          <p:nvPr/>
        </p:nvSpPr>
        <p:spPr>
          <a:xfrm>
            <a:off x="2324132" y="11135553"/>
            <a:ext cx="9111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Mesai + 4 </a:t>
            </a:r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sa</a:t>
            </a:r>
            <a:endParaRPr lang="tr-TR" sz="900" dirty="0">
              <a:solidFill>
                <a:srgbClr val="98A7B6"/>
              </a:solidFill>
              <a:latin typeface="IBM Plex Sans" panose="020B0503050203000203" pitchFamily="34" charset="0"/>
            </a:endParaRPr>
          </a:p>
        </p:txBody>
      </p:sp>
      <p:sp>
        <p:nvSpPr>
          <p:cNvPr id="105" name="Dikdörtgen: Köşeleri Yuvarlatılmış 104">
            <a:extLst>
              <a:ext uri="{FF2B5EF4-FFF2-40B4-BE49-F238E27FC236}">
                <a16:creationId xmlns:a16="http://schemas.microsoft.com/office/drawing/2014/main" id="{53714938-25A9-5B66-EFB8-E649B9263F41}"/>
              </a:ext>
            </a:extLst>
          </p:cNvPr>
          <p:cNvSpPr/>
          <p:nvPr/>
        </p:nvSpPr>
        <p:spPr>
          <a:xfrm>
            <a:off x="4027343" y="10845841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6" name="Metin kutusu 105">
            <a:extLst>
              <a:ext uri="{FF2B5EF4-FFF2-40B4-BE49-F238E27FC236}">
                <a16:creationId xmlns:a16="http://schemas.microsoft.com/office/drawing/2014/main" id="{C1ADB8D3-8636-13EE-250F-676FBBDF0392}"/>
              </a:ext>
            </a:extLst>
          </p:cNvPr>
          <p:cNvSpPr txBox="1"/>
          <p:nvPr/>
        </p:nvSpPr>
        <p:spPr>
          <a:xfrm>
            <a:off x="4259373" y="10820425"/>
            <a:ext cx="7187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Vardiya 3</a:t>
            </a:r>
          </a:p>
        </p:txBody>
      </p:sp>
      <p:sp>
        <p:nvSpPr>
          <p:cNvPr id="107" name="Dikdörtgen: Köşeleri Yuvarlatılmış 106">
            <a:extLst>
              <a:ext uri="{FF2B5EF4-FFF2-40B4-BE49-F238E27FC236}">
                <a16:creationId xmlns:a16="http://schemas.microsoft.com/office/drawing/2014/main" id="{61B0B49E-5E30-6959-64C8-944684592504}"/>
              </a:ext>
            </a:extLst>
          </p:cNvPr>
          <p:cNvSpPr/>
          <p:nvPr/>
        </p:nvSpPr>
        <p:spPr>
          <a:xfrm>
            <a:off x="4026383" y="11160969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8" name="Metin kutusu 107">
            <a:extLst>
              <a:ext uri="{FF2B5EF4-FFF2-40B4-BE49-F238E27FC236}">
                <a16:creationId xmlns:a16="http://schemas.microsoft.com/office/drawing/2014/main" id="{05A86102-2E0E-1BC7-1C29-A1442AD2680C}"/>
              </a:ext>
            </a:extLst>
          </p:cNvPr>
          <p:cNvSpPr txBox="1"/>
          <p:nvPr/>
        </p:nvSpPr>
        <p:spPr>
          <a:xfrm>
            <a:off x="4258413" y="11135553"/>
            <a:ext cx="822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Mesai + 4 </a:t>
            </a:r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sa</a:t>
            </a:r>
            <a:endParaRPr lang="tr-TR" sz="900" dirty="0">
              <a:solidFill>
                <a:srgbClr val="98A7B6"/>
              </a:solidFill>
              <a:latin typeface="IBM Plex Sans" panose="020B0503050203000203" pitchFamily="34" charset="0"/>
            </a:endParaRPr>
          </a:p>
        </p:txBody>
      </p:sp>
      <p:pic>
        <p:nvPicPr>
          <p:cNvPr id="109" name="Grafik 108">
            <a:extLst>
              <a:ext uri="{FF2B5EF4-FFF2-40B4-BE49-F238E27FC236}">
                <a16:creationId xmlns:a16="http://schemas.microsoft.com/office/drawing/2014/main" id="{6314F1E3-6D41-7CF0-29EA-BE39A3B79A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5398988" y="11045553"/>
            <a:ext cx="101671" cy="180000"/>
          </a:xfrm>
          <a:prstGeom prst="rect">
            <a:avLst/>
          </a:prstGeom>
        </p:spPr>
      </p:pic>
      <p:sp>
        <p:nvSpPr>
          <p:cNvPr id="110" name="Metin kutusu 109">
            <a:extLst>
              <a:ext uri="{FF2B5EF4-FFF2-40B4-BE49-F238E27FC236}">
                <a16:creationId xmlns:a16="http://schemas.microsoft.com/office/drawing/2014/main" id="{EB7F4424-34A8-B10B-1692-0BF4AD5E25C9}"/>
              </a:ext>
            </a:extLst>
          </p:cNvPr>
          <p:cNvSpPr txBox="1"/>
          <p:nvPr/>
        </p:nvSpPr>
        <p:spPr>
          <a:xfrm>
            <a:off x="2242084" y="14811082"/>
            <a:ext cx="1013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latin typeface="IBM Plex Sans" panose="020B0503050203000203" pitchFamily="34" charset="0"/>
              </a:rPr>
              <a:t>Teklif Tutarı</a:t>
            </a:r>
          </a:p>
        </p:txBody>
      </p:sp>
      <p:sp>
        <p:nvSpPr>
          <p:cNvPr id="111" name="Metin kutusu 110">
            <a:extLst>
              <a:ext uri="{FF2B5EF4-FFF2-40B4-BE49-F238E27FC236}">
                <a16:creationId xmlns:a16="http://schemas.microsoft.com/office/drawing/2014/main" id="{7F335009-B8A4-06B3-760D-CF89FBDC195D}"/>
              </a:ext>
            </a:extLst>
          </p:cNvPr>
          <p:cNvSpPr txBox="1"/>
          <p:nvPr/>
        </p:nvSpPr>
        <p:spPr>
          <a:xfrm>
            <a:off x="4439685" y="14811082"/>
            <a:ext cx="1104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latin typeface="IBM Plex Sans" panose="020B0503050203000203" pitchFamily="34" charset="0"/>
              </a:rPr>
              <a:t>$103.220</a:t>
            </a:r>
          </a:p>
        </p:txBody>
      </p:sp>
      <p:sp>
        <p:nvSpPr>
          <p:cNvPr id="112" name="Metin kutusu 111">
            <a:extLst>
              <a:ext uri="{FF2B5EF4-FFF2-40B4-BE49-F238E27FC236}">
                <a16:creationId xmlns:a16="http://schemas.microsoft.com/office/drawing/2014/main" id="{5DACC8E0-5B7C-0EA2-7EF3-A5FC800F3476}"/>
              </a:ext>
            </a:extLst>
          </p:cNvPr>
          <p:cNvSpPr txBox="1"/>
          <p:nvPr/>
        </p:nvSpPr>
        <p:spPr>
          <a:xfrm>
            <a:off x="2242084" y="15163844"/>
            <a:ext cx="21034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86F6F"/>
                </a:solidFill>
                <a:latin typeface="IBM Plex Sans" panose="020B0503050203000203" pitchFamily="34" charset="0"/>
              </a:rPr>
              <a:t>Öngörülen Giderler Toplamı</a:t>
            </a:r>
          </a:p>
        </p:txBody>
      </p:sp>
      <p:sp>
        <p:nvSpPr>
          <p:cNvPr id="113" name="Metin kutusu 112">
            <a:extLst>
              <a:ext uri="{FF2B5EF4-FFF2-40B4-BE49-F238E27FC236}">
                <a16:creationId xmlns:a16="http://schemas.microsoft.com/office/drawing/2014/main" id="{7F8C8E68-B65B-10BE-B0A1-08A99D263BF6}"/>
              </a:ext>
            </a:extLst>
          </p:cNvPr>
          <p:cNvSpPr txBox="1"/>
          <p:nvPr/>
        </p:nvSpPr>
        <p:spPr>
          <a:xfrm>
            <a:off x="4761888" y="15163844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86F6F"/>
                </a:solidFill>
                <a:latin typeface="IBM Plex Sans" panose="020B0503050203000203" pitchFamily="34" charset="0"/>
              </a:rPr>
              <a:t>$79.	489</a:t>
            </a:r>
          </a:p>
        </p:txBody>
      </p:sp>
      <p:sp>
        <p:nvSpPr>
          <p:cNvPr id="114" name="Metin kutusu 113">
            <a:extLst>
              <a:ext uri="{FF2B5EF4-FFF2-40B4-BE49-F238E27FC236}">
                <a16:creationId xmlns:a16="http://schemas.microsoft.com/office/drawing/2014/main" id="{B46D29BA-4A90-0842-6711-6F34156DF2B5}"/>
              </a:ext>
            </a:extLst>
          </p:cNvPr>
          <p:cNvSpPr txBox="1"/>
          <p:nvPr/>
        </p:nvSpPr>
        <p:spPr>
          <a:xfrm>
            <a:off x="2242084" y="15464559"/>
            <a:ext cx="16257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2FD17B"/>
                </a:solidFill>
                <a:latin typeface="IBM Plex Sans" panose="020B0503050203000203" pitchFamily="34" charset="0"/>
              </a:rPr>
              <a:t>Öngörülen Kar Tutarı</a:t>
            </a:r>
          </a:p>
        </p:txBody>
      </p:sp>
      <p:sp>
        <p:nvSpPr>
          <p:cNvPr id="115" name="Metin kutusu 114">
            <a:extLst>
              <a:ext uri="{FF2B5EF4-FFF2-40B4-BE49-F238E27FC236}">
                <a16:creationId xmlns:a16="http://schemas.microsoft.com/office/drawing/2014/main" id="{6AC17200-7697-49D8-FC1F-A27922ED61CE}"/>
              </a:ext>
            </a:extLst>
          </p:cNvPr>
          <p:cNvSpPr txBox="1"/>
          <p:nvPr/>
        </p:nvSpPr>
        <p:spPr>
          <a:xfrm>
            <a:off x="4761888" y="15464559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2FD17B"/>
                </a:solidFill>
                <a:latin typeface="IBM Plex Sans" panose="020B0503050203000203" pitchFamily="34" charset="0"/>
              </a:rPr>
              <a:t>$23.825</a:t>
            </a:r>
          </a:p>
        </p:txBody>
      </p:sp>
      <p:sp>
        <p:nvSpPr>
          <p:cNvPr id="116" name="Dikdörtgen: Köşeleri Yuvarlatılmış 115">
            <a:extLst>
              <a:ext uri="{FF2B5EF4-FFF2-40B4-BE49-F238E27FC236}">
                <a16:creationId xmlns:a16="http://schemas.microsoft.com/office/drawing/2014/main" id="{58DC7AB0-69C9-4985-64A0-0334349A52FC}"/>
              </a:ext>
            </a:extLst>
          </p:cNvPr>
          <p:cNvSpPr/>
          <p:nvPr/>
        </p:nvSpPr>
        <p:spPr>
          <a:xfrm>
            <a:off x="346057" y="14414010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182431"/>
          </a:solidFill>
          <a:ln w="9525">
            <a:solidFill>
              <a:srgbClr val="E7B7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7" name="Metin kutusu 116">
            <a:extLst>
              <a:ext uri="{FF2B5EF4-FFF2-40B4-BE49-F238E27FC236}">
                <a16:creationId xmlns:a16="http://schemas.microsoft.com/office/drawing/2014/main" id="{C76D7979-8C0A-D240-50BF-F35FAAF2D1AC}"/>
              </a:ext>
            </a:extLst>
          </p:cNvPr>
          <p:cNvSpPr txBox="1"/>
          <p:nvPr/>
        </p:nvSpPr>
        <p:spPr>
          <a:xfrm>
            <a:off x="578087" y="14388594"/>
            <a:ext cx="4502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Her ay ödeme yapılsın</a:t>
            </a:r>
          </a:p>
        </p:txBody>
      </p:sp>
      <p:cxnSp>
        <p:nvCxnSpPr>
          <p:cNvPr id="118" name="Düz Bağlayıcı 117">
            <a:extLst>
              <a:ext uri="{FF2B5EF4-FFF2-40B4-BE49-F238E27FC236}">
                <a16:creationId xmlns:a16="http://schemas.microsoft.com/office/drawing/2014/main" id="{F80FF5E7-7898-F0C4-EADE-5FCC685697D5}"/>
              </a:ext>
            </a:extLst>
          </p:cNvPr>
          <p:cNvCxnSpPr/>
          <p:nvPr/>
        </p:nvCxnSpPr>
        <p:spPr>
          <a:xfrm>
            <a:off x="286512" y="10607869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Düz Bağlayıcı 118">
            <a:extLst>
              <a:ext uri="{FF2B5EF4-FFF2-40B4-BE49-F238E27FC236}">
                <a16:creationId xmlns:a16="http://schemas.microsoft.com/office/drawing/2014/main" id="{4640C5C9-ACFC-250B-4FAB-11158510F2D4}"/>
              </a:ext>
            </a:extLst>
          </p:cNvPr>
          <p:cNvCxnSpPr/>
          <p:nvPr/>
        </p:nvCxnSpPr>
        <p:spPr>
          <a:xfrm>
            <a:off x="286512" y="12646988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Dikdörtgen: Köşeleri Yuvarlatılmış 136">
            <a:extLst>
              <a:ext uri="{FF2B5EF4-FFF2-40B4-BE49-F238E27FC236}">
                <a16:creationId xmlns:a16="http://schemas.microsoft.com/office/drawing/2014/main" id="{02F54E10-0C52-6DD8-AC04-E2C2F9E3BF20}"/>
              </a:ext>
            </a:extLst>
          </p:cNvPr>
          <p:cNvSpPr/>
          <p:nvPr/>
        </p:nvSpPr>
        <p:spPr>
          <a:xfrm>
            <a:off x="6182340" y="4122818"/>
            <a:ext cx="5548653" cy="2742751"/>
          </a:xfrm>
          <a:prstGeom prst="roundRect">
            <a:avLst>
              <a:gd name="adj" fmla="val 5714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38" name="Metin kutusu 137">
            <a:extLst>
              <a:ext uri="{FF2B5EF4-FFF2-40B4-BE49-F238E27FC236}">
                <a16:creationId xmlns:a16="http://schemas.microsoft.com/office/drawing/2014/main" id="{944FD1C5-AB11-F124-1250-255D36F90158}"/>
              </a:ext>
            </a:extLst>
          </p:cNvPr>
          <p:cNvSpPr txBox="1"/>
          <p:nvPr/>
        </p:nvSpPr>
        <p:spPr>
          <a:xfrm>
            <a:off x="7219656" y="4342926"/>
            <a:ext cx="6126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Kimden </a:t>
            </a:r>
          </a:p>
        </p:txBody>
      </p:sp>
      <p:pic>
        <p:nvPicPr>
          <p:cNvPr id="139" name="Resim 138">
            <a:extLst>
              <a:ext uri="{FF2B5EF4-FFF2-40B4-BE49-F238E27FC236}">
                <a16:creationId xmlns:a16="http://schemas.microsoft.com/office/drawing/2014/main" id="{87761EB4-F3D3-A553-63BB-60F450C30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274" y="4227382"/>
            <a:ext cx="878248" cy="887396"/>
          </a:xfrm>
          <a:prstGeom prst="rect">
            <a:avLst/>
          </a:prstGeom>
        </p:spPr>
      </p:pic>
      <p:sp>
        <p:nvSpPr>
          <p:cNvPr id="141" name="Metin kutusu 140">
            <a:extLst>
              <a:ext uri="{FF2B5EF4-FFF2-40B4-BE49-F238E27FC236}">
                <a16:creationId xmlns:a16="http://schemas.microsoft.com/office/drawing/2014/main" id="{F87135BD-62A4-5E87-2EF2-B84D6C846F5F}"/>
              </a:ext>
            </a:extLst>
          </p:cNvPr>
          <p:cNvSpPr txBox="1"/>
          <p:nvPr/>
        </p:nvSpPr>
        <p:spPr>
          <a:xfrm>
            <a:off x="7227276" y="4573758"/>
            <a:ext cx="4539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Konu</a:t>
            </a:r>
          </a:p>
        </p:txBody>
      </p:sp>
      <p:sp>
        <p:nvSpPr>
          <p:cNvPr id="143" name="Metin kutusu 142">
            <a:extLst>
              <a:ext uri="{FF2B5EF4-FFF2-40B4-BE49-F238E27FC236}">
                <a16:creationId xmlns:a16="http://schemas.microsoft.com/office/drawing/2014/main" id="{E7F42FD3-F6D7-FBD9-5A12-47348CA7084C}"/>
              </a:ext>
            </a:extLst>
          </p:cNvPr>
          <p:cNvSpPr txBox="1"/>
          <p:nvPr/>
        </p:nvSpPr>
        <p:spPr>
          <a:xfrm>
            <a:off x="7783536" y="4573758"/>
            <a:ext cx="15872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İş No: 261101 teklifiniz </a:t>
            </a:r>
            <a:r>
              <a:rPr lang="tr-TR" sz="900" dirty="0" err="1">
                <a:solidFill>
                  <a:srgbClr val="E7B75C"/>
                </a:solidFill>
                <a:latin typeface="IBM Plex Sans" panose="020B0503050203000203" pitchFamily="34" charset="0"/>
              </a:rPr>
              <a:t>hk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.</a:t>
            </a:r>
          </a:p>
        </p:txBody>
      </p:sp>
      <p:sp>
        <p:nvSpPr>
          <p:cNvPr id="144" name="Metin kutusu 143">
            <a:extLst>
              <a:ext uri="{FF2B5EF4-FFF2-40B4-BE49-F238E27FC236}">
                <a16:creationId xmlns:a16="http://schemas.microsoft.com/office/drawing/2014/main" id="{DA94B8A9-BC9A-DBAB-B741-C36C85B5A4E4}"/>
              </a:ext>
            </a:extLst>
          </p:cNvPr>
          <p:cNvSpPr txBox="1"/>
          <p:nvPr/>
        </p:nvSpPr>
        <p:spPr>
          <a:xfrm>
            <a:off x="7783536" y="4342926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latin typeface="IBM Plex Sans" panose="020B0503050203000203" pitchFamily="34" charset="0"/>
              </a:rPr>
              <a:t>17.10.2026</a:t>
            </a:r>
          </a:p>
        </p:txBody>
      </p:sp>
      <p:cxnSp>
        <p:nvCxnSpPr>
          <p:cNvPr id="145" name="Düz Bağlayıcı 144">
            <a:extLst>
              <a:ext uri="{FF2B5EF4-FFF2-40B4-BE49-F238E27FC236}">
                <a16:creationId xmlns:a16="http://schemas.microsoft.com/office/drawing/2014/main" id="{1341BCC8-CE3D-7203-C4A5-260BAAFDFDDF}"/>
              </a:ext>
            </a:extLst>
          </p:cNvPr>
          <p:cNvCxnSpPr/>
          <p:nvPr/>
        </p:nvCxnSpPr>
        <p:spPr>
          <a:xfrm>
            <a:off x="6339840" y="5229824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Metin kutusu 147">
            <a:extLst>
              <a:ext uri="{FF2B5EF4-FFF2-40B4-BE49-F238E27FC236}">
                <a16:creationId xmlns:a16="http://schemas.microsoft.com/office/drawing/2014/main" id="{18E9551F-8DF5-3BEF-BDD0-9FEE57536846}"/>
              </a:ext>
            </a:extLst>
          </p:cNvPr>
          <p:cNvSpPr txBox="1"/>
          <p:nvPr/>
        </p:nvSpPr>
        <p:spPr>
          <a:xfrm>
            <a:off x="7219656" y="4812318"/>
            <a:ext cx="6126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Kimden </a:t>
            </a:r>
          </a:p>
        </p:txBody>
      </p:sp>
      <p:sp>
        <p:nvSpPr>
          <p:cNvPr id="149" name="Metin kutusu 148">
            <a:extLst>
              <a:ext uri="{FF2B5EF4-FFF2-40B4-BE49-F238E27FC236}">
                <a16:creationId xmlns:a16="http://schemas.microsoft.com/office/drawing/2014/main" id="{AAB6A142-B895-74E5-5C16-43CB696E9010}"/>
              </a:ext>
            </a:extLst>
          </p:cNvPr>
          <p:cNvSpPr txBox="1"/>
          <p:nvPr/>
        </p:nvSpPr>
        <p:spPr>
          <a:xfrm>
            <a:off x="7783536" y="4812318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latin typeface="IBM Plex Sans" panose="020B0503050203000203" pitchFamily="34" charset="0"/>
              </a:rPr>
              <a:t>Rosa </a:t>
            </a:r>
            <a:r>
              <a:rPr lang="tr-TR" sz="900" dirty="0" err="1">
                <a:latin typeface="IBM Plex Sans" panose="020B0503050203000203" pitchFamily="34" charset="0"/>
              </a:rPr>
              <a:t>Delgado</a:t>
            </a:r>
            <a:r>
              <a:rPr lang="tr-TR" sz="900" dirty="0">
                <a:latin typeface="IBM Plex Sans" panose="020B0503050203000203" pitchFamily="34" charset="0"/>
              </a:rPr>
              <a:t> &lt;rosa.delgado@ridgeway.com&gt;</a:t>
            </a:r>
          </a:p>
        </p:txBody>
      </p:sp>
      <p:sp>
        <p:nvSpPr>
          <p:cNvPr id="159" name="Metin kutusu 158">
            <a:extLst>
              <a:ext uri="{FF2B5EF4-FFF2-40B4-BE49-F238E27FC236}">
                <a16:creationId xmlns:a16="http://schemas.microsoft.com/office/drawing/2014/main" id="{D965B97F-369D-DD63-8679-60BE6FEF4843}"/>
              </a:ext>
            </a:extLst>
          </p:cNvPr>
          <p:cNvSpPr txBox="1"/>
          <p:nvPr/>
        </p:nvSpPr>
        <p:spPr>
          <a:xfrm>
            <a:off x="6343356" y="5368578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Merhaba,</a:t>
            </a:r>
          </a:p>
        </p:txBody>
      </p:sp>
      <p:sp>
        <p:nvSpPr>
          <p:cNvPr id="160" name="Metin kutusu 159">
            <a:extLst>
              <a:ext uri="{FF2B5EF4-FFF2-40B4-BE49-F238E27FC236}">
                <a16:creationId xmlns:a16="http://schemas.microsoft.com/office/drawing/2014/main" id="{CB2BF1F2-A37B-C044-CA5F-1510D0611AA1}"/>
              </a:ext>
            </a:extLst>
          </p:cNvPr>
          <p:cNvSpPr txBox="1"/>
          <p:nvPr/>
        </p:nvSpPr>
        <p:spPr>
          <a:xfrm>
            <a:off x="6343356" y="5668925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Teklifiniz için teşekkür ederiz.</a:t>
            </a:r>
          </a:p>
        </p:txBody>
      </p:sp>
      <p:sp>
        <p:nvSpPr>
          <p:cNvPr id="161" name="Metin kutusu 160">
            <a:extLst>
              <a:ext uri="{FF2B5EF4-FFF2-40B4-BE49-F238E27FC236}">
                <a16:creationId xmlns:a16="http://schemas.microsoft.com/office/drawing/2014/main" id="{69538AD3-5865-873F-E617-0D3E696D95FC}"/>
              </a:ext>
            </a:extLst>
          </p:cNvPr>
          <p:cNvSpPr txBox="1"/>
          <p:nvPr/>
        </p:nvSpPr>
        <p:spPr>
          <a:xfrm>
            <a:off x="6343356" y="5969272"/>
            <a:ext cx="469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Ancak, hedef fiyatımızın üzerinde kaldığınız için sizinle </a:t>
            </a:r>
            <a:r>
              <a:rPr lang="tr-TR" sz="900" dirty="0">
                <a:solidFill>
                  <a:srgbClr val="E86F6F"/>
                </a:solidFill>
                <a:latin typeface="IBM Plex Sans" panose="020B0503050203000203" pitchFamily="34" charset="0"/>
              </a:rPr>
              <a:t>çalışamayacağımızı</a:t>
            </a:r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 üzülerek bildirmek isteriz. </a:t>
            </a:r>
          </a:p>
        </p:txBody>
      </p:sp>
      <p:sp>
        <p:nvSpPr>
          <p:cNvPr id="168" name="Metin kutusu 167">
            <a:extLst>
              <a:ext uri="{FF2B5EF4-FFF2-40B4-BE49-F238E27FC236}">
                <a16:creationId xmlns:a16="http://schemas.microsoft.com/office/drawing/2014/main" id="{BD15535C-30F9-8CD7-071F-E4EB0AA11FA9}"/>
              </a:ext>
            </a:extLst>
          </p:cNvPr>
          <p:cNvSpPr txBox="1"/>
          <p:nvPr/>
        </p:nvSpPr>
        <p:spPr>
          <a:xfrm>
            <a:off x="6343356" y="6368746"/>
            <a:ext cx="52390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Saygılar</a:t>
            </a:r>
          </a:p>
        </p:txBody>
      </p:sp>
      <p:sp>
        <p:nvSpPr>
          <p:cNvPr id="169" name="Dikdörtgen: Köşeleri Yuvarlatılmış 168">
            <a:extLst>
              <a:ext uri="{FF2B5EF4-FFF2-40B4-BE49-F238E27FC236}">
                <a16:creationId xmlns:a16="http://schemas.microsoft.com/office/drawing/2014/main" id="{0AA622C1-8DB3-21C3-0494-EB686D222234}"/>
              </a:ext>
            </a:extLst>
          </p:cNvPr>
          <p:cNvSpPr/>
          <p:nvPr/>
        </p:nvSpPr>
        <p:spPr>
          <a:xfrm>
            <a:off x="10469943" y="6377342"/>
            <a:ext cx="1159733" cy="374814"/>
          </a:xfrm>
          <a:prstGeom prst="roundRect">
            <a:avLst>
              <a:gd name="adj" fmla="val 22483"/>
            </a:avLst>
          </a:prstGeom>
          <a:solidFill>
            <a:srgbClr val="657687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Yanıtla</a:t>
            </a:r>
          </a:p>
        </p:txBody>
      </p:sp>
      <p:sp>
        <p:nvSpPr>
          <p:cNvPr id="174" name="Dikdörtgen: Köşeleri Yuvarlatılmış 173">
            <a:extLst>
              <a:ext uri="{FF2B5EF4-FFF2-40B4-BE49-F238E27FC236}">
                <a16:creationId xmlns:a16="http://schemas.microsoft.com/office/drawing/2014/main" id="{0D7E135C-02F7-CA48-532C-6A0B3AF39168}"/>
              </a:ext>
            </a:extLst>
          </p:cNvPr>
          <p:cNvSpPr/>
          <p:nvPr/>
        </p:nvSpPr>
        <p:spPr>
          <a:xfrm>
            <a:off x="4397442" y="15894093"/>
            <a:ext cx="1159733" cy="374814"/>
          </a:xfrm>
          <a:prstGeom prst="roundRect">
            <a:avLst>
              <a:gd name="adj" fmla="val 22483"/>
            </a:avLst>
          </a:prstGeom>
          <a:solidFill>
            <a:srgbClr val="1F7A4D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Teklif Ver</a:t>
            </a:r>
          </a:p>
        </p:txBody>
      </p:sp>
      <p:sp>
        <p:nvSpPr>
          <p:cNvPr id="175" name="Dikdörtgen: Köşeleri Yuvarlatılmış 174">
            <a:extLst>
              <a:ext uri="{FF2B5EF4-FFF2-40B4-BE49-F238E27FC236}">
                <a16:creationId xmlns:a16="http://schemas.microsoft.com/office/drawing/2014/main" id="{30118508-43B7-7615-08A8-40AD1F46818E}"/>
              </a:ext>
            </a:extLst>
          </p:cNvPr>
          <p:cNvSpPr/>
          <p:nvPr/>
        </p:nvSpPr>
        <p:spPr>
          <a:xfrm>
            <a:off x="6189840" y="7008667"/>
            <a:ext cx="5548653" cy="5630887"/>
          </a:xfrm>
          <a:prstGeom prst="roundRect">
            <a:avLst>
              <a:gd name="adj" fmla="val 3837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76" name="Metin kutusu 175">
            <a:extLst>
              <a:ext uri="{FF2B5EF4-FFF2-40B4-BE49-F238E27FC236}">
                <a16:creationId xmlns:a16="http://schemas.microsoft.com/office/drawing/2014/main" id="{AD91C22D-DD28-B052-9BC9-C24942E102B4}"/>
              </a:ext>
            </a:extLst>
          </p:cNvPr>
          <p:cNvSpPr txBox="1"/>
          <p:nvPr/>
        </p:nvSpPr>
        <p:spPr>
          <a:xfrm>
            <a:off x="7227156" y="7228775"/>
            <a:ext cx="6126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Kimden </a:t>
            </a:r>
          </a:p>
        </p:txBody>
      </p:sp>
      <p:pic>
        <p:nvPicPr>
          <p:cNvPr id="177" name="Resim 176">
            <a:extLst>
              <a:ext uri="{FF2B5EF4-FFF2-40B4-BE49-F238E27FC236}">
                <a16:creationId xmlns:a16="http://schemas.microsoft.com/office/drawing/2014/main" id="{D6AA87A5-2BDC-9419-99CA-1C8337B7F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774" y="7113231"/>
            <a:ext cx="878248" cy="887396"/>
          </a:xfrm>
          <a:prstGeom prst="rect">
            <a:avLst/>
          </a:prstGeom>
        </p:spPr>
      </p:pic>
      <p:sp>
        <p:nvSpPr>
          <p:cNvPr id="178" name="Metin kutusu 177">
            <a:extLst>
              <a:ext uri="{FF2B5EF4-FFF2-40B4-BE49-F238E27FC236}">
                <a16:creationId xmlns:a16="http://schemas.microsoft.com/office/drawing/2014/main" id="{1963671A-1224-A356-25F7-142DDD9604D3}"/>
              </a:ext>
            </a:extLst>
          </p:cNvPr>
          <p:cNvSpPr txBox="1"/>
          <p:nvPr/>
        </p:nvSpPr>
        <p:spPr>
          <a:xfrm>
            <a:off x="7234776" y="7459607"/>
            <a:ext cx="4539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Konu</a:t>
            </a:r>
          </a:p>
        </p:txBody>
      </p:sp>
      <p:sp>
        <p:nvSpPr>
          <p:cNvPr id="179" name="Metin kutusu 178">
            <a:extLst>
              <a:ext uri="{FF2B5EF4-FFF2-40B4-BE49-F238E27FC236}">
                <a16:creationId xmlns:a16="http://schemas.microsoft.com/office/drawing/2014/main" id="{CB5447D6-5E28-EB51-E985-F1FE549A2F71}"/>
              </a:ext>
            </a:extLst>
          </p:cNvPr>
          <p:cNvSpPr txBox="1"/>
          <p:nvPr/>
        </p:nvSpPr>
        <p:spPr>
          <a:xfrm>
            <a:off x="7791036" y="7459607"/>
            <a:ext cx="15872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İş No: 261101 teklifiniz </a:t>
            </a:r>
            <a:r>
              <a:rPr lang="tr-TR" sz="900" dirty="0" err="1">
                <a:solidFill>
                  <a:srgbClr val="E7B75C"/>
                </a:solidFill>
                <a:latin typeface="IBM Plex Sans" panose="020B0503050203000203" pitchFamily="34" charset="0"/>
              </a:rPr>
              <a:t>hk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.</a:t>
            </a:r>
          </a:p>
        </p:txBody>
      </p:sp>
      <p:sp>
        <p:nvSpPr>
          <p:cNvPr id="180" name="Metin kutusu 179">
            <a:extLst>
              <a:ext uri="{FF2B5EF4-FFF2-40B4-BE49-F238E27FC236}">
                <a16:creationId xmlns:a16="http://schemas.microsoft.com/office/drawing/2014/main" id="{B7443BE1-7A09-2A55-4549-945ACC731121}"/>
              </a:ext>
            </a:extLst>
          </p:cNvPr>
          <p:cNvSpPr txBox="1"/>
          <p:nvPr/>
        </p:nvSpPr>
        <p:spPr>
          <a:xfrm>
            <a:off x="7791036" y="7228775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latin typeface="IBM Plex Sans" panose="020B0503050203000203" pitchFamily="34" charset="0"/>
              </a:rPr>
              <a:t>17.10.2026</a:t>
            </a:r>
          </a:p>
        </p:txBody>
      </p:sp>
      <p:cxnSp>
        <p:nvCxnSpPr>
          <p:cNvPr id="181" name="Düz Bağlayıcı 180">
            <a:extLst>
              <a:ext uri="{FF2B5EF4-FFF2-40B4-BE49-F238E27FC236}">
                <a16:creationId xmlns:a16="http://schemas.microsoft.com/office/drawing/2014/main" id="{B367DD30-01C4-3931-2BDD-21E0F1A6E4E8}"/>
              </a:ext>
            </a:extLst>
          </p:cNvPr>
          <p:cNvCxnSpPr/>
          <p:nvPr/>
        </p:nvCxnSpPr>
        <p:spPr>
          <a:xfrm>
            <a:off x="6347340" y="8115673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Metin kutusu 181">
            <a:extLst>
              <a:ext uri="{FF2B5EF4-FFF2-40B4-BE49-F238E27FC236}">
                <a16:creationId xmlns:a16="http://schemas.microsoft.com/office/drawing/2014/main" id="{E7288E67-ED15-CF7F-95BB-C7B4333074C2}"/>
              </a:ext>
            </a:extLst>
          </p:cNvPr>
          <p:cNvSpPr txBox="1"/>
          <p:nvPr/>
        </p:nvSpPr>
        <p:spPr>
          <a:xfrm>
            <a:off x="7227156" y="7698167"/>
            <a:ext cx="6126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Kimden </a:t>
            </a:r>
          </a:p>
        </p:txBody>
      </p:sp>
      <p:sp>
        <p:nvSpPr>
          <p:cNvPr id="183" name="Metin kutusu 182">
            <a:extLst>
              <a:ext uri="{FF2B5EF4-FFF2-40B4-BE49-F238E27FC236}">
                <a16:creationId xmlns:a16="http://schemas.microsoft.com/office/drawing/2014/main" id="{2694A6A4-91BB-EBED-FB93-93B8E2C16324}"/>
              </a:ext>
            </a:extLst>
          </p:cNvPr>
          <p:cNvSpPr txBox="1"/>
          <p:nvPr/>
        </p:nvSpPr>
        <p:spPr>
          <a:xfrm>
            <a:off x="7791036" y="7698167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latin typeface="IBM Plex Sans" panose="020B0503050203000203" pitchFamily="34" charset="0"/>
              </a:rPr>
              <a:t>Rosa </a:t>
            </a:r>
            <a:r>
              <a:rPr lang="tr-TR" sz="900" dirty="0" err="1">
                <a:latin typeface="IBM Plex Sans" panose="020B0503050203000203" pitchFamily="34" charset="0"/>
              </a:rPr>
              <a:t>Delgado</a:t>
            </a:r>
            <a:r>
              <a:rPr lang="tr-TR" sz="900" dirty="0">
                <a:latin typeface="IBM Plex Sans" panose="020B0503050203000203" pitchFamily="34" charset="0"/>
              </a:rPr>
              <a:t> &lt;rosa.delgado@ridgeway.com&gt;</a:t>
            </a:r>
          </a:p>
        </p:txBody>
      </p:sp>
      <p:sp>
        <p:nvSpPr>
          <p:cNvPr id="184" name="Metin kutusu 183">
            <a:extLst>
              <a:ext uri="{FF2B5EF4-FFF2-40B4-BE49-F238E27FC236}">
                <a16:creationId xmlns:a16="http://schemas.microsoft.com/office/drawing/2014/main" id="{7CBAE1F1-4B07-607F-AF25-5CB8C6203B78}"/>
              </a:ext>
            </a:extLst>
          </p:cNvPr>
          <p:cNvSpPr txBox="1"/>
          <p:nvPr/>
        </p:nvSpPr>
        <p:spPr>
          <a:xfrm>
            <a:off x="6350856" y="8254427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Merhaba,</a:t>
            </a:r>
          </a:p>
        </p:txBody>
      </p:sp>
      <p:sp>
        <p:nvSpPr>
          <p:cNvPr id="185" name="Metin kutusu 184">
            <a:extLst>
              <a:ext uri="{FF2B5EF4-FFF2-40B4-BE49-F238E27FC236}">
                <a16:creationId xmlns:a16="http://schemas.microsoft.com/office/drawing/2014/main" id="{0C24F701-295A-07CA-792F-863EF13705DE}"/>
              </a:ext>
            </a:extLst>
          </p:cNvPr>
          <p:cNvSpPr txBox="1"/>
          <p:nvPr/>
        </p:nvSpPr>
        <p:spPr>
          <a:xfrm>
            <a:off x="6350856" y="8554774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Teklifiniz için teşekkür ederiz.</a:t>
            </a:r>
          </a:p>
        </p:txBody>
      </p:sp>
      <p:sp>
        <p:nvSpPr>
          <p:cNvPr id="186" name="Metin kutusu 185">
            <a:extLst>
              <a:ext uri="{FF2B5EF4-FFF2-40B4-BE49-F238E27FC236}">
                <a16:creationId xmlns:a16="http://schemas.microsoft.com/office/drawing/2014/main" id="{35122846-FD8C-7295-680F-EC41571494C6}"/>
              </a:ext>
            </a:extLst>
          </p:cNvPr>
          <p:cNvSpPr txBox="1"/>
          <p:nvPr/>
        </p:nvSpPr>
        <p:spPr>
          <a:xfrm>
            <a:off x="6350856" y="8855121"/>
            <a:ext cx="469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Hedef fiyatımız bu fiyatın (</a:t>
            </a:r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$103.220</a:t>
            </a:r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) biraz üzerinde kalıyor. Teklifinizi revize etmeniz mümkün mü? Beklediğimiz teklif tutarı: 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$99.450 ( </a:t>
            </a:r>
            <a:r>
              <a:rPr lang="tr-TR" sz="900" dirty="0">
                <a:solidFill>
                  <a:srgbClr val="E86F6F"/>
                </a:solidFill>
                <a:latin typeface="IBM Plex Sans" panose="020B0503050203000203" pitchFamily="34" charset="0"/>
              </a:rPr>
              <a:t>- $3.770, - % 3,7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)</a:t>
            </a:r>
          </a:p>
        </p:txBody>
      </p:sp>
      <p:sp>
        <p:nvSpPr>
          <p:cNvPr id="187" name="Metin kutusu 186">
            <a:extLst>
              <a:ext uri="{FF2B5EF4-FFF2-40B4-BE49-F238E27FC236}">
                <a16:creationId xmlns:a16="http://schemas.microsoft.com/office/drawing/2014/main" id="{795F1785-C0A8-963E-A24D-759C4740CCC8}"/>
              </a:ext>
            </a:extLst>
          </p:cNvPr>
          <p:cNvSpPr txBox="1"/>
          <p:nvPr/>
        </p:nvSpPr>
        <p:spPr>
          <a:xfrm>
            <a:off x="6350856" y="9254595"/>
            <a:ext cx="52390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Saygılar</a:t>
            </a:r>
          </a:p>
        </p:txBody>
      </p:sp>
      <p:sp>
        <p:nvSpPr>
          <p:cNvPr id="188" name="Dikdörtgen: Köşeleri Yuvarlatılmış 187">
            <a:extLst>
              <a:ext uri="{FF2B5EF4-FFF2-40B4-BE49-F238E27FC236}">
                <a16:creationId xmlns:a16="http://schemas.microsoft.com/office/drawing/2014/main" id="{626D2C0F-15BB-5FC8-944A-6EE4E1A2C7A9}"/>
              </a:ext>
            </a:extLst>
          </p:cNvPr>
          <p:cNvSpPr/>
          <p:nvPr/>
        </p:nvSpPr>
        <p:spPr>
          <a:xfrm>
            <a:off x="10477443" y="9263191"/>
            <a:ext cx="1159733" cy="374814"/>
          </a:xfrm>
          <a:prstGeom prst="roundRect">
            <a:avLst>
              <a:gd name="adj" fmla="val 22483"/>
            </a:avLst>
          </a:prstGeom>
          <a:solidFill>
            <a:srgbClr val="1F7A4D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Yanıtla</a:t>
            </a:r>
          </a:p>
        </p:txBody>
      </p:sp>
      <p:sp>
        <p:nvSpPr>
          <p:cNvPr id="189" name="Dikdörtgen: Köşeleri Yuvarlatılmış 188">
            <a:extLst>
              <a:ext uri="{FF2B5EF4-FFF2-40B4-BE49-F238E27FC236}">
                <a16:creationId xmlns:a16="http://schemas.microsoft.com/office/drawing/2014/main" id="{3BBDC899-42A4-23AC-45BF-9C17D87D4075}"/>
              </a:ext>
            </a:extLst>
          </p:cNvPr>
          <p:cNvSpPr/>
          <p:nvPr/>
        </p:nvSpPr>
        <p:spPr>
          <a:xfrm>
            <a:off x="6182340" y="110775"/>
            <a:ext cx="5548653" cy="3906489"/>
          </a:xfrm>
          <a:prstGeom prst="roundRect">
            <a:avLst>
              <a:gd name="adj" fmla="val 4310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90" name="Metin kutusu 189">
            <a:extLst>
              <a:ext uri="{FF2B5EF4-FFF2-40B4-BE49-F238E27FC236}">
                <a16:creationId xmlns:a16="http://schemas.microsoft.com/office/drawing/2014/main" id="{7A3CB679-E4B7-B32A-AAC2-AD0003800EDB}"/>
              </a:ext>
            </a:extLst>
          </p:cNvPr>
          <p:cNvSpPr txBox="1"/>
          <p:nvPr/>
        </p:nvSpPr>
        <p:spPr>
          <a:xfrm>
            <a:off x="7219656" y="330883"/>
            <a:ext cx="6126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Kimden </a:t>
            </a:r>
          </a:p>
        </p:txBody>
      </p:sp>
      <p:pic>
        <p:nvPicPr>
          <p:cNvPr id="191" name="Resim 190">
            <a:extLst>
              <a:ext uri="{FF2B5EF4-FFF2-40B4-BE49-F238E27FC236}">
                <a16:creationId xmlns:a16="http://schemas.microsoft.com/office/drawing/2014/main" id="{CE5AE457-D120-FB7F-5F2B-55DF049CB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274" y="215339"/>
            <a:ext cx="878248" cy="887396"/>
          </a:xfrm>
          <a:prstGeom prst="rect">
            <a:avLst/>
          </a:prstGeom>
        </p:spPr>
      </p:pic>
      <p:sp>
        <p:nvSpPr>
          <p:cNvPr id="192" name="Metin kutusu 191">
            <a:extLst>
              <a:ext uri="{FF2B5EF4-FFF2-40B4-BE49-F238E27FC236}">
                <a16:creationId xmlns:a16="http://schemas.microsoft.com/office/drawing/2014/main" id="{38A9952F-798B-7541-480C-1973D5BD7C19}"/>
              </a:ext>
            </a:extLst>
          </p:cNvPr>
          <p:cNvSpPr txBox="1"/>
          <p:nvPr/>
        </p:nvSpPr>
        <p:spPr>
          <a:xfrm>
            <a:off x="7227276" y="561715"/>
            <a:ext cx="4539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Konu</a:t>
            </a:r>
          </a:p>
        </p:txBody>
      </p:sp>
      <p:sp>
        <p:nvSpPr>
          <p:cNvPr id="193" name="Metin kutusu 192">
            <a:extLst>
              <a:ext uri="{FF2B5EF4-FFF2-40B4-BE49-F238E27FC236}">
                <a16:creationId xmlns:a16="http://schemas.microsoft.com/office/drawing/2014/main" id="{F9F76407-D942-E0A1-8F7F-D4560B4B0DE8}"/>
              </a:ext>
            </a:extLst>
          </p:cNvPr>
          <p:cNvSpPr txBox="1"/>
          <p:nvPr/>
        </p:nvSpPr>
        <p:spPr>
          <a:xfrm>
            <a:off x="7783536" y="561715"/>
            <a:ext cx="15872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İş No: 261101 teklifiniz </a:t>
            </a:r>
            <a:r>
              <a:rPr lang="tr-TR" sz="900" dirty="0" err="1">
                <a:solidFill>
                  <a:srgbClr val="E7B75C"/>
                </a:solidFill>
                <a:latin typeface="IBM Plex Sans" panose="020B0503050203000203" pitchFamily="34" charset="0"/>
              </a:rPr>
              <a:t>hk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.</a:t>
            </a:r>
          </a:p>
        </p:txBody>
      </p:sp>
      <p:sp>
        <p:nvSpPr>
          <p:cNvPr id="194" name="Metin kutusu 193">
            <a:extLst>
              <a:ext uri="{FF2B5EF4-FFF2-40B4-BE49-F238E27FC236}">
                <a16:creationId xmlns:a16="http://schemas.microsoft.com/office/drawing/2014/main" id="{94A68627-F721-917E-EB7C-4267A4C615AA}"/>
              </a:ext>
            </a:extLst>
          </p:cNvPr>
          <p:cNvSpPr txBox="1"/>
          <p:nvPr/>
        </p:nvSpPr>
        <p:spPr>
          <a:xfrm>
            <a:off x="7783536" y="330883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latin typeface="IBM Plex Sans" panose="020B0503050203000203" pitchFamily="34" charset="0"/>
              </a:rPr>
              <a:t>17.10.2026</a:t>
            </a:r>
          </a:p>
        </p:txBody>
      </p:sp>
      <p:cxnSp>
        <p:nvCxnSpPr>
          <p:cNvPr id="195" name="Düz Bağlayıcı 194">
            <a:extLst>
              <a:ext uri="{FF2B5EF4-FFF2-40B4-BE49-F238E27FC236}">
                <a16:creationId xmlns:a16="http://schemas.microsoft.com/office/drawing/2014/main" id="{00512784-C344-22CA-36FF-C70BF7C824FE}"/>
              </a:ext>
            </a:extLst>
          </p:cNvPr>
          <p:cNvCxnSpPr/>
          <p:nvPr/>
        </p:nvCxnSpPr>
        <p:spPr>
          <a:xfrm>
            <a:off x="6339840" y="1217781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Metin kutusu 195">
            <a:extLst>
              <a:ext uri="{FF2B5EF4-FFF2-40B4-BE49-F238E27FC236}">
                <a16:creationId xmlns:a16="http://schemas.microsoft.com/office/drawing/2014/main" id="{A777191C-F792-CE4D-5F4B-3BE456D18299}"/>
              </a:ext>
            </a:extLst>
          </p:cNvPr>
          <p:cNvSpPr txBox="1"/>
          <p:nvPr/>
        </p:nvSpPr>
        <p:spPr>
          <a:xfrm>
            <a:off x="7219656" y="800275"/>
            <a:ext cx="6126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Kimden </a:t>
            </a:r>
          </a:p>
        </p:txBody>
      </p:sp>
      <p:sp>
        <p:nvSpPr>
          <p:cNvPr id="197" name="Metin kutusu 196">
            <a:extLst>
              <a:ext uri="{FF2B5EF4-FFF2-40B4-BE49-F238E27FC236}">
                <a16:creationId xmlns:a16="http://schemas.microsoft.com/office/drawing/2014/main" id="{1AD9F1FE-D71C-AE92-CB6D-36ECF484CC08}"/>
              </a:ext>
            </a:extLst>
          </p:cNvPr>
          <p:cNvSpPr txBox="1"/>
          <p:nvPr/>
        </p:nvSpPr>
        <p:spPr>
          <a:xfrm>
            <a:off x="7783536" y="800275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latin typeface="IBM Plex Sans" panose="020B0503050203000203" pitchFamily="34" charset="0"/>
              </a:rPr>
              <a:t>Rosa </a:t>
            </a:r>
            <a:r>
              <a:rPr lang="tr-TR" sz="900" dirty="0" err="1">
                <a:latin typeface="IBM Plex Sans" panose="020B0503050203000203" pitchFamily="34" charset="0"/>
              </a:rPr>
              <a:t>Delgado</a:t>
            </a:r>
            <a:r>
              <a:rPr lang="tr-TR" sz="900" dirty="0">
                <a:latin typeface="IBM Plex Sans" panose="020B0503050203000203" pitchFamily="34" charset="0"/>
              </a:rPr>
              <a:t> &lt;rosa.delgado@ridgeway.com&gt;</a:t>
            </a:r>
          </a:p>
        </p:txBody>
      </p:sp>
      <p:sp>
        <p:nvSpPr>
          <p:cNvPr id="198" name="Metin kutusu 197">
            <a:extLst>
              <a:ext uri="{FF2B5EF4-FFF2-40B4-BE49-F238E27FC236}">
                <a16:creationId xmlns:a16="http://schemas.microsoft.com/office/drawing/2014/main" id="{F2502B75-462F-576A-44C7-BCF1923044D6}"/>
              </a:ext>
            </a:extLst>
          </p:cNvPr>
          <p:cNvSpPr txBox="1"/>
          <p:nvPr/>
        </p:nvSpPr>
        <p:spPr>
          <a:xfrm>
            <a:off x="6343356" y="1356535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Merhaba,</a:t>
            </a:r>
          </a:p>
        </p:txBody>
      </p:sp>
      <p:sp>
        <p:nvSpPr>
          <p:cNvPr id="199" name="Metin kutusu 198">
            <a:extLst>
              <a:ext uri="{FF2B5EF4-FFF2-40B4-BE49-F238E27FC236}">
                <a16:creationId xmlns:a16="http://schemas.microsoft.com/office/drawing/2014/main" id="{C805866D-C88C-9362-8F94-4A53EB450CA9}"/>
              </a:ext>
            </a:extLst>
          </p:cNvPr>
          <p:cNvSpPr txBox="1"/>
          <p:nvPr/>
        </p:nvSpPr>
        <p:spPr>
          <a:xfrm>
            <a:off x="6343356" y="1656882"/>
            <a:ext cx="330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Teklifiniz için teşekkür ederiz.</a:t>
            </a:r>
          </a:p>
        </p:txBody>
      </p:sp>
      <p:sp>
        <p:nvSpPr>
          <p:cNvPr id="200" name="Metin kutusu 199">
            <a:extLst>
              <a:ext uri="{FF2B5EF4-FFF2-40B4-BE49-F238E27FC236}">
                <a16:creationId xmlns:a16="http://schemas.microsoft.com/office/drawing/2014/main" id="{AC7BA09F-83D9-4545-DF74-D0D51ED731D3}"/>
              </a:ext>
            </a:extLst>
          </p:cNvPr>
          <p:cNvSpPr txBox="1"/>
          <p:nvPr/>
        </p:nvSpPr>
        <p:spPr>
          <a:xfrm>
            <a:off x="6343356" y="1957229"/>
            <a:ext cx="469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Belirttiğiniz koşulların bizler için uygun olduğunu bildirmek isteriz. Ürünlerimizi aşağıdaki şartlarda teslim almayı hedefliyoruz;</a:t>
            </a:r>
          </a:p>
        </p:txBody>
      </p:sp>
      <p:sp>
        <p:nvSpPr>
          <p:cNvPr id="201" name="Metin kutusu 200">
            <a:extLst>
              <a:ext uri="{FF2B5EF4-FFF2-40B4-BE49-F238E27FC236}">
                <a16:creationId xmlns:a16="http://schemas.microsoft.com/office/drawing/2014/main" id="{C3631A65-7D16-89E2-52F3-8F950DB249DE}"/>
              </a:ext>
            </a:extLst>
          </p:cNvPr>
          <p:cNvSpPr txBox="1"/>
          <p:nvPr/>
        </p:nvSpPr>
        <p:spPr>
          <a:xfrm>
            <a:off x="6343356" y="3532632"/>
            <a:ext cx="52390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Saygılar</a:t>
            </a:r>
          </a:p>
        </p:txBody>
      </p:sp>
      <p:sp>
        <p:nvSpPr>
          <p:cNvPr id="202" name="Dikdörtgen: Köşeleri Yuvarlatılmış 201">
            <a:extLst>
              <a:ext uri="{FF2B5EF4-FFF2-40B4-BE49-F238E27FC236}">
                <a16:creationId xmlns:a16="http://schemas.microsoft.com/office/drawing/2014/main" id="{0BEE2DD4-E89C-1B6E-C895-7F80ABCA9299}"/>
              </a:ext>
            </a:extLst>
          </p:cNvPr>
          <p:cNvSpPr/>
          <p:nvPr/>
        </p:nvSpPr>
        <p:spPr>
          <a:xfrm>
            <a:off x="10469943" y="3541228"/>
            <a:ext cx="1159733" cy="374814"/>
          </a:xfrm>
          <a:prstGeom prst="roundRect">
            <a:avLst>
              <a:gd name="adj" fmla="val 22483"/>
            </a:avLst>
          </a:prstGeom>
          <a:solidFill>
            <a:srgbClr val="657687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Yanıtla</a:t>
            </a:r>
          </a:p>
        </p:txBody>
      </p:sp>
      <p:sp>
        <p:nvSpPr>
          <p:cNvPr id="205" name="Metin kutusu 204">
            <a:extLst>
              <a:ext uri="{FF2B5EF4-FFF2-40B4-BE49-F238E27FC236}">
                <a16:creationId xmlns:a16="http://schemas.microsoft.com/office/drawing/2014/main" id="{E599B1F5-5A68-230E-B73C-CBCDF1CB99C8}"/>
              </a:ext>
            </a:extLst>
          </p:cNvPr>
          <p:cNvSpPr txBox="1"/>
          <p:nvPr/>
        </p:nvSpPr>
        <p:spPr>
          <a:xfrm>
            <a:off x="6343356" y="2370781"/>
            <a:ext cx="46904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Proje Bedeli: </a:t>
            </a:r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$103.220</a:t>
            </a:r>
          </a:p>
        </p:txBody>
      </p:sp>
      <p:sp>
        <p:nvSpPr>
          <p:cNvPr id="206" name="Metin kutusu 205">
            <a:extLst>
              <a:ext uri="{FF2B5EF4-FFF2-40B4-BE49-F238E27FC236}">
                <a16:creationId xmlns:a16="http://schemas.microsoft.com/office/drawing/2014/main" id="{E5FF1DB6-0C6E-EF45-1173-0CD3090646C4}"/>
              </a:ext>
            </a:extLst>
          </p:cNvPr>
          <p:cNvSpPr txBox="1"/>
          <p:nvPr/>
        </p:nvSpPr>
        <p:spPr>
          <a:xfrm>
            <a:off x="6343356" y="2618173"/>
            <a:ext cx="46904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Teslimat: 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17.05.2027 (5 Ay)</a:t>
            </a:r>
          </a:p>
        </p:txBody>
      </p:sp>
      <p:sp>
        <p:nvSpPr>
          <p:cNvPr id="207" name="Metin kutusu 206">
            <a:extLst>
              <a:ext uri="{FF2B5EF4-FFF2-40B4-BE49-F238E27FC236}">
                <a16:creationId xmlns:a16="http://schemas.microsoft.com/office/drawing/2014/main" id="{C715C187-FDAE-F447-C49C-EC791F5CD20D}"/>
              </a:ext>
            </a:extLst>
          </p:cNvPr>
          <p:cNvSpPr txBox="1"/>
          <p:nvPr/>
        </p:nvSpPr>
        <p:spPr>
          <a:xfrm>
            <a:off x="6343356" y="2857172"/>
            <a:ext cx="46904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Peşinat: </a:t>
            </a:r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$30.966 </a:t>
            </a:r>
            <a:r>
              <a:rPr lang="tr-TR" sz="900" dirty="0">
                <a:latin typeface="IBM Plex Sans" panose="020B0503050203000203" pitchFamily="34" charset="0"/>
              </a:rPr>
              <a:t>(Hesabınıza aktarıldı)</a:t>
            </a:r>
          </a:p>
        </p:txBody>
      </p:sp>
      <p:sp>
        <p:nvSpPr>
          <p:cNvPr id="208" name="Metin kutusu 207">
            <a:extLst>
              <a:ext uri="{FF2B5EF4-FFF2-40B4-BE49-F238E27FC236}">
                <a16:creationId xmlns:a16="http://schemas.microsoft.com/office/drawing/2014/main" id="{5E0C98D4-B50C-F668-5327-917BB7DFF4FA}"/>
              </a:ext>
            </a:extLst>
          </p:cNvPr>
          <p:cNvSpPr txBox="1"/>
          <p:nvPr/>
        </p:nvSpPr>
        <p:spPr>
          <a:xfrm>
            <a:off x="6343356" y="3082624"/>
            <a:ext cx="469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Kalan Ödeme: </a:t>
            </a:r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$72.254 </a:t>
            </a:r>
            <a:r>
              <a:rPr lang="tr-TR" sz="900" dirty="0">
                <a:latin typeface="IBM Plex Sans" panose="020B0503050203000203" pitchFamily="34" charset="0"/>
              </a:rPr>
              <a:t>(Malzeme </a:t>
            </a:r>
            <a:r>
              <a:rPr lang="tr-TR" sz="900" dirty="0" err="1">
                <a:latin typeface="IBM Plex Sans" panose="020B0503050203000203" pitchFamily="34" charset="0"/>
              </a:rPr>
              <a:t>Tesilmi</a:t>
            </a:r>
            <a:r>
              <a:rPr lang="tr-TR" sz="900" dirty="0">
                <a:latin typeface="IBM Plex Sans" panose="020B0503050203000203" pitchFamily="34" charset="0"/>
              </a:rPr>
              <a:t>) / (Her ay teslim edilen malzemenin % X ‘i, kalanı son teslimatta)</a:t>
            </a:r>
          </a:p>
        </p:txBody>
      </p:sp>
      <p:cxnSp>
        <p:nvCxnSpPr>
          <p:cNvPr id="224" name="Düz Bağlayıcı 223">
            <a:extLst>
              <a:ext uri="{FF2B5EF4-FFF2-40B4-BE49-F238E27FC236}">
                <a16:creationId xmlns:a16="http://schemas.microsoft.com/office/drawing/2014/main" id="{9271707F-4714-23FB-C770-BD1E717E0878}"/>
              </a:ext>
            </a:extLst>
          </p:cNvPr>
          <p:cNvCxnSpPr/>
          <p:nvPr/>
        </p:nvCxnSpPr>
        <p:spPr>
          <a:xfrm>
            <a:off x="6406463" y="9772175"/>
            <a:ext cx="5163312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Metin kutusu 224">
            <a:extLst>
              <a:ext uri="{FF2B5EF4-FFF2-40B4-BE49-F238E27FC236}">
                <a16:creationId xmlns:a16="http://schemas.microsoft.com/office/drawing/2014/main" id="{80E8A8A3-FBBC-8B12-9E85-F5B5A620B2C0}"/>
              </a:ext>
            </a:extLst>
          </p:cNvPr>
          <p:cNvSpPr txBox="1"/>
          <p:nvPr/>
        </p:nvSpPr>
        <p:spPr>
          <a:xfrm>
            <a:off x="6339724" y="9950116"/>
            <a:ext cx="1401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62A8E5"/>
                </a:solidFill>
                <a:latin typeface="IBM Plex Sans" panose="020B0503050203000203" pitchFamily="34" charset="0"/>
              </a:rPr>
              <a:t>Öngörülen Veriler</a:t>
            </a:r>
          </a:p>
        </p:txBody>
      </p:sp>
      <p:sp>
        <p:nvSpPr>
          <p:cNvPr id="226" name="Metin kutusu 225">
            <a:extLst>
              <a:ext uri="{FF2B5EF4-FFF2-40B4-BE49-F238E27FC236}">
                <a16:creationId xmlns:a16="http://schemas.microsoft.com/office/drawing/2014/main" id="{56346B52-3CB6-867D-CB0C-07C5E5CEDBD7}"/>
              </a:ext>
            </a:extLst>
          </p:cNvPr>
          <p:cNvSpPr txBox="1"/>
          <p:nvPr/>
        </p:nvSpPr>
        <p:spPr>
          <a:xfrm>
            <a:off x="6339724" y="10664450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Hammadde Gideri</a:t>
            </a:r>
          </a:p>
        </p:txBody>
      </p:sp>
      <p:sp>
        <p:nvSpPr>
          <p:cNvPr id="227" name="Metin kutusu 226">
            <a:extLst>
              <a:ext uri="{FF2B5EF4-FFF2-40B4-BE49-F238E27FC236}">
                <a16:creationId xmlns:a16="http://schemas.microsoft.com/office/drawing/2014/main" id="{4C943939-1238-722B-0450-F51AFB1094D3}"/>
              </a:ext>
            </a:extLst>
          </p:cNvPr>
          <p:cNvSpPr txBox="1"/>
          <p:nvPr/>
        </p:nvSpPr>
        <p:spPr>
          <a:xfrm>
            <a:off x="6339724" y="11220585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Hurda Gideri</a:t>
            </a:r>
          </a:p>
        </p:txBody>
      </p:sp>
      <p:sp>
        <p:nvSpPr>
          <p:cNvPr id="228" name="Metin kutusu 227">
            <a:extLst>
              <a:ext uri="{FF2B5EF4-FFF2-40B4-BE49-F238E27FC236}">
                <a16:creationId xmlns:a16="http://schemas.microsoft.com/office/drawing/2014/main" id="{049B93AE-773E-9B38-5E1E-05383D480997}"/>
              </a:ext>
            </a:extLst>
          </p:cNvPr>
          <p:cNvSpPr txBox="1"/>
          <p:nvPr/>
        </p:nvSpPr>
        <p:spPr>
          <a:xfrm>
            <a:off x="6339724" y="11560981"/>
            <a:ext cx="2287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Enerji, Personel, Sarf Malzeme</a:t>
            </a:r>
          </a:p>
        </p:txBody>
      </p:sp>
      <p:sp>
        <p:nvSpPr>
          <p:cNvPr id="229" name="Metin kutusu 228">
            <a:extLst>
              <a:ext uri="{FF2B5EF4-FFF2-40B4-BE49-F238E27FC236}">
                <a16:creationId xmlns:a16="http://schemas.microsoft.com/office/drawing/2014/main" id="{1AFF2888-CC1B-4B30-40FC-31BA410D38C6}"/>
              </a:ext>
            </a:extLst>
          </p:cNvPr>
          <p:cNvSpPr txBox="1"/>
          <p:nvPr/>
        </p:nvSpPr>
        <p:spPr>
          <a:xfrm>
            <a:off x="6339724" y="11901377"/>
            <a:ext cx="2036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Genel Gider &amp; Amortisman</a:t>
            </a:r>
          </a:p>
        </p:txBody>
      </p:sp>
      <p:sp>
        <p:nvSpPr>
          <p:cNvPr id="230" name="Metin kutusu 229">
            <a:extLst>
              <a:ext uri="{FF2B5EF4-FFF2-40B4-BE49-F238E27FC236}">
                <a16:creationId xmlns:a16="http://schemas.microsoft.com/office/drawing/2014/main" id="{857308EE-2FA2-4328-290A-6ABB85E67CA3}"/>
              </a:ext>
            </a:extLst>
          </p:cNvPr>
          <p:cNvSpPr txBox="1"/>
          <p:nvPr/>
        </p:nvSpPr>
        <p:spPr>
          <a:xfrm>
            <a:off x="6339724" y="12241773"/>
            <a:ext cx="1120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86F6F"/>
                </a:solidFill>
                <a:latin typeface="IBM Plex Sans" panose="020B0503050203000203" pitchFamily="34" charset="0"/>
              </a:rPr>
              <a:t>Toplam Gider</a:t>
            </a:r>
          </a:p>
        </p:txBody>
      </p:sp>
      <p:sp>
        <p:nvSpPr>
          <p:cNvPr id="231" name="Metin kutusu 230">
            <a:extLst>
              <a:ext uri="{FF2B5EF4-FFF2-40B4-BE49-F238E27FC236}">
                <a16:creationId xmlns:a16="http://schemas.microsoft.com/office/drawing/2014/main" id="{AA05FE54-FBCD-7620-D0D3-A7329BDD0CCA}"/>
              </a:ext>
            </a:extLst>
          </p:cNvPr>
          <p:cNvSpPr txBox="1"/>
          <p:nvPr/>
        </p:nvSpPr>
        <p:spPr>
          <a:xfrm>
            <a:off x="10881839" y="10664450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$54.218</a:t>
            </a:r>
          </a:p>
        </p:txBody>
      </p:sp>
      <p:sp>
        <p:nvSpPr>
          <p:cNvPr id="232" name="Metin kutusu 231">
            <a:extLst>
              <a:ext uri="{FF2B5EF4-FFF2-40B4-BE49-F238E27FC236}">
                <a16:creationId xmlns:a16="http://schemas.microsoft.com/office/drawing/2014/main" id="{21C7710A-FD05-69CD-B5C3-C51FC993D090}"/>
              </a:ext>
            </a:extLst>
          </p:cNvPr>
          <p:cNvSpPr txBox="1"/>
          <p:nvPr/>
        </p:nvSpPr>
        <p:spPr>
          <a:xfrm>
            <a:off x="10974814" y="11220585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$1.627</a:t>
            </a:r>
          </a:p>
        </p:txBody>
      </p:sp>
      <p:sp>
        <p:nvSpPr>
          <p:cNvPr id="233" name="Metin kutusu 232">
            <a:extLst>
              <a:ext uri="{FF2B5EF4-FFF2-40B4-BE49-F238E27FC236}">
                <a16:creationId xmlns:a16="http://schemas.microsoft.com/office/drawing/2014/main" id="{4025E726-1D91-1560-ACF7-2480A2A82AC8}"/>
              </a:ext>
            </a:extLst>
          </p:cNvPr>
          <p:cNvSpPr txBox="1"/>
          <p:nvPr/>
        </p:nvSpPr>
        <p:spPr>
          <a:xfrm>
            <a:off x="10881839" y="11560981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$18.400</a:t>
            </a:r>
          </a:p>
        </p:txBody>
      </p:sp>
      <p:sp>
        <p:nvSpPr>
          <p:cNvPr id="234" name="Metin kutusu 233">
            <a:extLst>
              <a:ext uri="{FF2B5EF4-FFF2-40B4-BE49-F238E27FC236}">
                <a16:creationId xmlns:a16="http://schemas.microsoft.com/office/drawing/2014/main" id="{5E733AF5-E7E1-C18A-3478-EAD349460C57}"/>
              </a:ext>
            </a:extLst>
          </p:cNvPr>
          <p:cNvSpPr txBox="1"/>
          <p:nvPr/>
        </p:nvSpPr>
        <p:spPr>
          <a:xfrm>
            <a:off x="10974814" y="11901377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$5.267</a:t>
            </a:r>
          </a:p>
        </p:txBody>
      </p:sp>
      <p:sp>
        <p:nvSpPr>
          <p:cNvPr id="235" name="Metin kutusu 234">
            <a:extLst>
              <a:ext uri="{FF2B5EF4-FFF2-40B4-BE49-F238E27FC236}">
                <a16:creationId xmlns:a16="http://schemas.microsoft.com/office/drawing/2014/main" id="{48A5D5B0-041B-BD85-60C9-07F670B77731}"/>
              </a:ext>
            </a:extLst>
          </p:cNvPr>
          <p:cNvSpPr txBox="1"/>
          <p:nvPr/>
        </p:nvSpPr>
        <p:spPr>
          <a:xfrm>
            <a:off x="10881839" y="12241773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>
                <a:solidFill>
                  <a:srgbClr val="E86F6F"/>
                </a:solidFill>
                <a:latin typeface="IBM Plex Sans" panose="020B0503050203000203" pitchFamily="34" charset="0"/>
              </a:rPr>
              <a:t>$79.	489</a:t>
            </a:r>
          </a:p>
        </p:txBody>
      </p:sp>
      <p:sp>
        <p:nvSpPr>
          <p:cNvPr id="236" name="Metin kutusu 235">
            <a:extLst>
              <a:ext uri="{FF2B5EF4-FFF2-40B4-BE49-F238E27FC236}">
                <a16:creationId xmlns:a16="http://schemas.microsoft.com/office/drawing/2014/main" id="{8BB0E106-E67A-768A-9DCA-33E60F97D1A8}"/>
              </a:ext>
            </a:extLst>
          </p:cNvPr>
          <p:cNvSpPr txBox="1"/>
          <p:nvPr/>
        </p:nvSpPr>
        <p:spPr>
          <a:xfrm>
            <a:off x="6470471" y="10920846"/>
            <a:ext cx="24612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>
                <a:solidFill>
                  <a:srgbClr val="E7B75C"/>
                </a:solidFill>
                <a:latin typeface="IBM Plex Sans" panose="020B0503050203000203" pitchFamily="34" charset="0"/>
              </a:rPr>
              <a:t>14,5 kg x 3.280 Ad = 95.120 kg</a:t>
            </a:r>
            <a:endParaRPr lang="tr-TR" dirty="0">
              <a:solidFill>
                <a:srgbClr val="E7B75C"/>
              </a:solidFill>
            </a:endParaRPr>
          </a:p>
        </p:txBody>
      </p:sp>
      <p:sp>
        <p:nvSpPr>
          <p:cNvPr id="237" name="Metin kutusu 236">
            <a:extLst>
              <a:ext uri="{FF2B5EF4-FFF2-40B4-BE49-F238E27FC236}">
                <a16:creationId xmlns:a16="http://schemas.microsoft.com/office/drawing/2014/main" id="{F8A16B74-E24A-CAFE-349B-78FD64EF61D3}"/>
              </a:ext>
            </a:extLst>
          </p:cNvPr>
          <p:cNvSpPr txBox="1"/>
          <p:nvPr/>
        </p:nvSpPr>
        <p:spPr>
          <a:xfrm>
            <a:off x="6339724" y="10329115"/>
            <a:ext cx="1778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rgbClr val="E7EDF3"/>
                </a:solidFill>
                <a:latin typeface="IBM Plex Sans" panose="020B0503050203000203" pitchFamily="34" charset="0"/>
              </a:rPr>
              <a:t>Hammadde Tedarikçisi</a:t>
            </a:r>
          </a:p>
        </p:txBody>
      </p:sp>
      <p:sp>
        <p:nvSpPr>
          <p:cNvPr id="238" name="Metin kutusu 237">
            <a:extLst>
              <a:ext uri="{FF2B5EF4-FFF2-40B4-BE49-F238E27FC236}">
                <a16:creationId xmlns:a16="http://schemas.microsoft.com/office/drawing/2014/main" id="{11DCDD40-8A3B-0852-8E57-F1EF90C61BE0}"/>
              </a:ext>
            </a:extLst>
          </p:cNvPr>
          <p:cNvSpPr txBox="1"/>
          <p:nvPr/>
        </p:nvSpPr>
        <p:spPr>
          <a:xfrm>
            <a:off x="10221402" y="10325901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200" dirty="0" err="1">
                <a:solidFill>
                  <a:srgbClr val="E7EDF3"/>
                </a:solidFill>
                <a:latin typeface="IBM Plex Sans" panose="020B0503050203000203" pitchFamily="34" charset="0"/>
              </a:rPr>
              <a:t>Nordhaus</a:t>
            </a:r>
            <a:r>
              <a:rPr lang="tr-TR" sz="1200" dirty="0">
                <a:solidFill>
                  <a:srgbClr val="E7EDF3"/>
                </a:solidFill>
                <a:latin typeface="IBM Plex Sans" panose="020B0503050203000203" pitchFamily="34" charset="0"/>
              </a:rPr>
              <a:t> Steel</a:t>
            </a:r>
          </a:p>
        </p:txBody>
      </p:sp>
      <p:pic>
        <p:nvPicPr>
          <p:cNvPr id="239" name="Grafik 238">
            <a:extLst>
              <a:ext uri="{FF2B5EF4-FFF2-40B4-BE49-F238E27FC236}">
                <a16:creationId xmlns:a16="http://schemas.microsoft.com/office/drawing/2014/main" id="{F0F78EAD-2EB9-1750-A8FE-76B50B585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11518939" y="10372619"/>
            <a:ext cx="101671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0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421</Words>
  <Application>Microsoft Office PowerPoint</Application>
  <PresentationFormat>Geniş ekran</PresentationFormat>
  <Paragraphs>118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IBM Plex Sans</vt:lpstr>
      <vt:lpstr>Office Teması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Emrah ENGİN</dc:creator>
  <cp:lastModifiedBy>Emrah ENGİN</cp:lastModifiedBy>
  <cp:revision>2</cp:revision>
  <dcterms:created xsi:type="dcterms:W3CDTF">2026-10-07T12:22:28Z</dcterms:created>
  <dcterms:modified xsi:type="dcterms:W3CDTF">2026-10-07T12:51:43Z</dcterms:modified>
</cp:coreProperties>
</file>