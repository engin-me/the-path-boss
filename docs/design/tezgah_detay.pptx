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1B5CDBF-3655-C65E-E467-E92CC235E8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00CFA9AF-A8EF-8247-F90A-969CA515AC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16A7D527-FC68-BEEA-2D82-8F3183FEA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3858E-B703-427F-BFC2-5DACA9BD4F52}" type="datetimeFigureOut">
              <a:rPr lang="tr-TR" smtClean="0"/>
              <a:t>8.10.2026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2FDC3022-1577-695C-37B2-969324E0A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2A657396-C7F3-3B80-56CF-DF74AB965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E8610-A3C2-43A4-92D7-E589A4078A5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426170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C981D41-6FFE-61F7-CF46-1889EBFC0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4EC51516-6700-6770-040E-FB2E9D7721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467A326A-3495-4C7A-F3B7-800E52E00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3858E-B703-427F-BFC2-5DACA9BD4F52}" type="datetimeFigureOut">
              <a:rPr lang="tr-TR" smtClean="0"/>
              <a:t>8.10.2026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EB954A5D-FCF6-89CB-F9A3-35E57D8B3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04760D42-8461-40AE-D6F4-9B9D3E5B6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E8610-A3C2-43A4-92D7-E589A4078A5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279673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6ADB74E-916F-A332-1641-8672C5E75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456D4C8E-EAA5-59E6-5DA4-351F4B78BB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F6DCAC30-EEFE-7201-3654-DEE886794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3858E-B703-427F-BFC2-5DACA9BD4F52}" type="datetimeFigureOut">
              <a:rPr lang="tr-TR" smtClean="0"/>
              <a:t>8.10.2026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3D20D34D-A407-A130-109C-835F61B87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55E29C72-1464-E3B5-0254-56A59CF5D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E8610-A3C2-43A4-92D7-E589A4078A5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398522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FC6639F-8460-916A-F75F-23EB32A02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BBFD54F1-C433-9DA7-0F73-1DC57FCFC3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1E0FB286-0E7B-2C13-3885-7992786037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47DF5A47-67EA-879E-78BD-071E590EC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3858E-B703-427F-BFC2-5DACA9BD4F52}" type="datetimeFigureOut">
              <a:rPr lang="tr-TR" smtClean="0"/>
              <a:t>8.10.2026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3C944729-C329-1547-ECC5-2CE3ECE37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2EAAB077-1606-CE16-C505-BBFD4D60E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E8610-A3C2-43A4-92D7-E589A4078A5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428129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43D20F0-CBA5-862F-7DCB-D934172DE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608B5ACC-24DD-5FFD-426C-3E0264A181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5AE5DD2A-77AD-67E4-87C5-BF946A5786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8FDB37DE-9CE3-EF50-BC00-04282EFEA9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C333E10E-F56F-A944-300B-0431AC5205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AD3D0A23-EC03-753A-7AF4-341DC3FC7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3858E-B703-427F-BFC2-5DACA9BD4F52}" type="datetimeFigureOut">
              <a:rPr lang="tr-TR" smtClean="0"/>
              <a:t>8.10.2026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5F44CF4C-CE77-0705-5123-0A470CA54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2876E100-39C9-B2A8-1F20-3623F74B5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E8610-A3C2-43A4-92D7-E589A4078A5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994747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4382E8E-5766-F7EF-77D8-68DF0D5AE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6D39A475-5AEA-B3C0-88AA-8C9AE995D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3858E-B703-427F-BFC2-5DACA9BD4F52}" type="datetimeFigureOut">
              <a:rPr lang="tr-TR" smtClean="0"/>
              <a:t>8.10.2026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FE7223C1-81E3-45F3-FB7F-A1934AF30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FFBF5801-61B0-AACB-42DA-366E2D7ED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E8610-A3C2-43A4-92D7-E589A4078A5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378367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4300D112-A20E-2CBA-1817-9705A409D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3858E-B703-427F-BFC2-5DACA9BD4F52}" type="datetimeFigureOut">
              <a:rPr lang="tr-TR" smtClean="0"/>
              <a:t>8.10.2026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F69D7BDA-7954-A609-4E2B-9CBA8C1C7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D54AC1F6-9D47-60E2-BE4E-A2562ABA6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E8610-A3C2-43A4-92D7-E589A4078A5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854148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831140C-3F8D-5259-B3D2-DB42C42B7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46005321-CAB7-19C5-74E3-45F7D85663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36641FC2-D7C7-85E9-BD6F-49E48C698D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EB99373E-ECB2-846F-E6DC-C03826996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3858E-B703-427F-BFC2-5DACA9BD4F52}" type="datetimeFigureOut">
              <a:rPr lang="tr-TR" smtClean="0"/>
              <a:t>8.10.2026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B1FA74F8-8C35-28BF-831F-BBD5759CE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68E2B341-3D42-7094-52F9-BC201171D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E8610-A3C2-43A4-92D7-E589A4078A5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42262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E0307EA-B196-CBC1-E92A-8B16861B5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6B8CF114-AB1D-74F7-7BD9-1B0B3A76DEB8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BC354BD8-F887-2B0E-4EB9-1700589DAF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C1A5056B-E2DA-6715-AD86-630602FA7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3858E-B703-427F-BFC2-5DACA9BD4F52}" type="datetimeFigureOut">
              <a:rPr lang="tr-TR" smtClean="0"/>
              <a:t>8.10.2026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EC5037A6-E5DF-70EB-B4D5-678071903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17D7304B-AE55-0472-AED2-64F8610C5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E8610-A3C2-43A4-92D7-E589A4078A5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208353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2BD05C8-7DA7-2260-7A67-3C228DA57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E4C77C2D-7241-5C01-67E4-E0929A097A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361EBB7A-5988-EFFD-2C9C-33C89119C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3858E-B703-427F-BFC2-5DACA9BD4F52}" type="datetimeFigureOut">
              <a:rPr lang="tr-TR" smtClean="0"/>
              <a:t>8.10.2026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ACEE6BB5-4981-A738-F983-29DE0EFD5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9D861D28-AEDF-6FAF-17B8-98BE19975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E8610-A3C2-43A4-92D7-E589A4078A5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39585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881746A7-5601-F5D1-22CA-6076EA8934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998D3EE8-2162-F45A-0818-B939F748DD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A628D87F-435D-6462-4C46-2F1F2FAC1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3858E-B703-427F-BFC2-5DACA9BD4F52}" type="datetimeFigureOut">
              <a:rPr lang="tr-TR" smtClean="0"/>
              <a:t>8.10.2026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C4C98DE7-FEE5-E75D-9601-03EE5B901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2F6EB6AF-92DF-A153-C70C-3B545BB00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E8610-A3C2-43A4-92D7-E589A4078A5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462319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14ACF1AF-F5FC-587F-5E9B-26AE13C29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668455B1-355E-90F5-E481-5DC103155E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DBEE6218-72E9-5C5D-01CC-00329858E8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B3858E-B703-427F-BFC2-5DACA9BD4F52}" type="datetimeFigureOut">
              <a:rPr lang="tr-TR" smtClean="0"/>
              <a:t>8.10.2026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928D191F-7FEC-D95E-535C-F02F33C782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76E4CFE8-AE64-A52B-A2DF-AFB7DC7EE0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3E8610-A3C2-43A4-92D7-E589A4078A5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8592214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ikdörtgen 10">
            <a:extLst>
              <a:ext uri="{FF2B5EF4-FFF2-40B4-BE49-F238E27FC236}">
                <a16:creationId xmlns:a16="http://schemas.microsoft.com/office/drawing/2014/main" id="{F68C339E-E54D-3966-783D-B4E9D15A3660}"/>
              </a:ext>
            </a:extLst>
          </p:cNvPr>
          <p:cNvSpPr>
            <a:spLocks/>
          </p:cNvSpPr>
          <p:nvPr/>
        </p:nvSpPr>
        <p:spPr>
          <a:xfrm>
            <a:off x="214423" y="-81023"/>
            <a:ext cx="5990400" cy="6172283"/>
          </a:xfrm>
          <a:prstGeom prst="rect">
            <a:avLst/>
          </a:prstGeom>
          <a:solidFill>
            <a:srgbClr val="0F17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3" name="Dikdörtgen: Köşeleri Yuvarlatılmış 12">
            <a:extLst>
              <a:ext uri="{FF2B5EF4-FFF2-40B4-BE49-F238E27FC236}">
                <a16:creationId xmlns:a16="http://schemas.microsoft.com/office/drawing/2014/main" id="{9F54BFDE-2C10-9780-5496-455C9DBA46AB}"/>
              </a:ext>
            </a:extLst>
          </p:cNvPr>
          <p:cNvSpPr/>
          <p:nvPr/>
        </p:nvSpPr>
        <p:spPr>
          <a:xfrm>
            <a:off x="348358" y="0"/>
            <a:ext cx="5734491" cy="5888736"/>
          </a:xfrm>
          <a:prstGeom prst="roundRect">
            <a:avLst>
              <a:gd name="adj" fmla="val 5234"/>
            </a:avLst>
          </a:prstGeom>
          <a:solidFill>
            <a:srgbClr val="182431"/>
          </a:solidFill>
          <a:ln w="9525">
            <a:solidFill>
              <a:srgbClr val="34455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97DC480A-A7FA-0627-F8C0-4D84EF2531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91" t="775" r="8747" b="1537"/>
          <a:stretch>
            <a:fillRect/>
          </a:stretch>
        </p:blipFill>
        <p:spPr>
          <a:xfrm>
            <a:off x="467359" y="118125"/>
            <a:ext cx="3103882" cy="2322733"/>
          </a:xfrm>
          <a:custGeom>
            <a:avLst/>
            <a:gdLst>
              <a:gd name="csX0" fmla="*/ 129640 w 3103882"/>
              <a:gd name="csY0" fmla="*/ 0 h 2322733"/>
              <a:gd name="csX1" fmla="*/ 2967056 w 3103882"/>
              <a:gd name="csY1" fmla="*/ 0 h 2322733"/>
              <a:gd name="csX2" fmla="*/ 3103882 w 3103882"/>
              <a:gd name="csY2" fmla="*/ 169652 h 2322733"/>
              <a:gd name="csX3" fmla="*/ 3103882 w 3103882"/>
              <a:gd name="csY3" fmla="*/ 2153081 h 2322733"/>
              <a:gd name="csX4" fmla="*/ 2967056 w 3103882"/>
              <a:gd name="csY4" fmla="*/ 2322733 h 2322733"/>
              <a:gd name="csX5" fmla="*/ 129640 w 3103882"/>
              <a:gd name="csY5" fmla="*/ 2322733 h 2322733"/>
              <a:gd name="csX6" fmla="*/ 3567 w 3103882"/>
              <a:gd name="csY6" fmla="*/ 2219117 h 2322733"/>
              <a:gd name="csX7" fmla="*/ 0 w 3103882"/>
              <a:gd name="csY7" fmla="*/ 2197213 h 2322733"/>
              <a:gd name="csX8" fmla="*/ 0 w 3103882"/>
              <a:gd name="csY8" fmla="*/ 125520 h 2322733"/>
              <a:gd name="csX9" fmla="*/ 3567 w 3103882"/>
              <a:gd name="csY9" fmla="*/ 103616 h 2322733"/>
              <a:gd name="csX10" fmla="*/ 129640 w 3103882"/>
              <a:gd name="csY10" fmla="*/ 0 h 232273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3103882" h="2322733">
                <a:moveTo>
                  <a:pt x="129640" y="0"/>
                </a:moveTo>
                <a:lnTo>
                  <a:pt x="2967056" y="0"/>
                </a:lnTo>
                <a:cubicBezTo>
                  <a:pt x="3042623" y="0"/>
                  <a:pt x="3103882" y="75956"/>
                  <a:pt x="3103882" y="169652"/>
                </a:cubicBezTo>
                <a:lnTo>
                  <a:pt x="3103882" y="2153081"/>
                </a:lnTo>
                <a:cubicBezTo>
                  <a:pt x="3103882" y="2246777"/>
                  <a:pt x="3042623" y="2322733"/>
                  <a:pt x="2967056" y="2322733"/>
                </a:cubicBezTo>
                <a:lnTo>
                  <a:pt x="129640" y="2322733"/>
                </a:lnTo>
                <a:cubicBezTo>
                  <a:pt x="72965" y="2322733"/>
                  <a:pt x="24338" y="2280008"/>
                  <a:pt x="3567" y="2219117"/>
                </a:cubicBezTo>
                <a:lnTo>
                  <a:pt x="0" y="2197213"/>
                </a:lnTo>
                <a:lnTo>
                  <a:pt x="0" y="125520"/>
                </a:lnTo>
                <a:lnTo>
                  <a:pt x="3567" y="103616"/>
                </a:lnTo>
                <a:cubicBezTo>
                  <a:pt x="24338" y="42725"/>
                  <a:pt x="72965" y="0"/>
                  <a:pt x="129640" y="0"/>
                </a:cubicBezTo>
                <a:close/>
              </a:path>
            </a:pathLst>
          </a:custGeom>
        </p:spPr>
      </p:pic>
      <p:sp>
        <p:nvSpPr>
          <p:cNvPr id="5" name="Metin kutusu 4">
            <a:extLst>
              <a:ext uri="{FF2B5EF4-FFF2-40B4-BE49-F238E27FC236}">
                <a16:creationId xmlns:a16="http://schemas.microsoft.com/office/drawing/2014/main" id="{15C0732B-5CA1-9464-7A4B-7775DE4E4C54}"/>
              </a:ext>
            </a:extLst>
          </p:cNvPr>
          <p:cNvSpPr txBox="1"/>
          <p:nvPr/>
        </p:nvSpPr>
        <p:spPr>
          <a:xfrm>
            <a:off x="4041068" y="118125"/>
            <a:ext cx="21888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400" dirty="0">
                <a:latin typeface="IBM Plex Sans" panose="020B0503050203000203" pitchFamily="34" charset="0"/>
              </a:rPr>
              <a:t>Taşlama Tezgahı</a:t>
            </a:r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3AF86BC6-B6B2-9CC2-D4E6-EEC9B8F5188B}"/>
              </a:ext>
            </a:extLst>
          </p:cNvPr>
          <p:cNvSpPr txBox="1"/>
          <p:nvPr/>
        </p:nvSpPr>
        <p:spPr>
          <a:xfrm>
            <a:off x="4041068" y="766740"/>
            <a:ext cx="52290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900" dirty="0">
                <a:solidFill>
                  <a:srgbClr val="98A7B6"/>
                </a:solidFill>
                <a:latin typeface="IBM Plex Sans" panose="020B0503050203000203" pitchFamily="34" charset="0"/>
              </a:rPr>
              <a:t>Seviye</a:t>
            </a:r>
            <a:endParaRPr lang="tr-TR" sz="900" dirty="0">
              <a:solidFill>
                <a:srgbClr val="E7B75C"/>
              </a:solidFill>
              <a:latin typeface="IBM Plex Sans" panose="020B0503050203000203" pitchFamily="34" charset="0"/>
            </a:endParaRPr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023418AE-122F-9141-0BE5-65E0C26D5A94}"/>
              </a:ext>
            </a:extLst>
          </p:cNvPr>
          <p:cNvSpPr txBox="1"/>
          <p:nvPr/>
        </p:nvSpPr>
        <p:spPr>
          <a:xfrm>
            <a:off x="4041068" y="1121207"/>
            <a:ext cx="72808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900" dirty="0">
                <a:solidFill>
                  <a:srgbClr val="98A7B6"/>
                </a:solidFill>
                <a:latin typeface="IBM Plex Sans" panose="020B0503050203000203" pitchFamily="34" charset="0"/>
              </a:rPr>
              <a:t>Kondisyon</a:t>
            </a:r>
            <a:endParaRPr lang="tr-TR" sz="900" dirty="0">
              <a:solidFill>
                <a:srgbClr val="E7B75C"/>
              </a:solidFill>
              <a:latin typeface="IBM Plex Sans" panose="020B0503050203000203" pitchFamily="34" charset="0"/>
            </a:endParaRPr>
          </a:p>
        </p:txBody>
      </p:sp>
      <p:sp>
        <p:nvSpPr>
          <p:cNvPr id="10" name="Metin kutusu 9">
            <a:extLst>
              <a:ext uri="{FF2B5EF4-FFF2-40B4-BE49-F238E27FC236}">
                <a16:creationId xmlns:a16="http://schemas.microsoft.com/office/drawing/2014/main" id="{F924B948-2501-EA06-6D87-D0D80AFB52B0}"/>
              </a:ext>
            </a:extLst>
          </p:cNvPr>
          <p:cNvSpPr txBox="1"/>
          <p:nvPr/>
        </p:nvSpPr>
        <p:spPr>
          <a:xfrm>
            <a:off x="4041068" y="1475674"/>
            <a:ext cx="78418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900" dirty="0">
                <a:solidFill>
                  <a:srgbClr val="98A7B6"/>
                </a:solidFill>
                <a:latin typeface="IBM Plex Sans" panose="020B0503050203000203" pitchFamily="34" charset="0"/>
              </a:rPr>
              <a:t>Motor Gücü</a:t>
            </a:r>
            <a:endParaRPr lang="tr-TR" sz="900" dirty="0">
              <a:solidFill>
                <a:srgbClr val="E7B75C"/>
              </a:solidFill>
              <a:latin typeface="IBM Plex Sans" panose="020B0503050203000203" pitchFamily="34" charset="0"/>
            </a:endParaRPr>
          </a:p>
        </p:txBody>
      </p:sp>
      <p:sp>
        <p:nvSpPr>
          <p:cNvPr id="12" name="Metin kutusu 11">
            <a:extLst>
              <a:ext uri="{FF2B5EF4-FFF2-40B4-BE49-F238E27FC236}">
                <a16:creationId xmlns:a16="http://schemas.microsoft.com/office/drawing/2014/main" id="{F1073F2A-FDF2-5509-FEE1-3BBA7286F652}"/>
              </a:ext>
            </a:extLst>
          </p:cNvPr>
          <p:cNvSpPr txBox="1"/>
          <p:nvPr/>
        </p:nvSpPr>
        <p:spPr>
          <a:xfrm>
            <a:off x="4041068" y="1830141"/>
            <a:ext cx="63511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900" dirty="0">
                <a:solidFill>
                  <a:srgbClr val="98A7B6"/>
                </a:solidFill>
                <a:latin typeface="IBM Plex Sans" panose="020B0503050203000203" pitchFamily="34" charset="0"/>
              </a:rPr>
              <a:t>Tolerans</a:t>
            </a:r>
            <a:endParaRPr lang="tr-TR" sz="900" dirty="0">
              <a:solidFill>
                <a:srgbClr val="E7B75C"/>
              </a:solidFill>
              <a:latin typeface="IBM Plex Sans" panose="020B0503050203000203" pitchFamily="34" charset="0"/>
            </a:endParaRPr>
          </a:p>
        </p:txBody>
      </p:sp>
      <p:sp>
        <p:nvSpPr>
          <p:cNvPr id="14" name="Metin kutusu 13">
            <a:extLst>
              <a:ext uri="{FF2B5EF4-FFF2-40B4-BE49-F238E27FC236}">
                <a16:creationId xmlns:a16="http://schemas.microsoft.com/office/drawing/2014/main" id="{05352B1E-1DA5-919D-CE09-5FDB532D1348}"/>
              </a:ext>
            </a:extLst>
          </p:cNvPr>
          <p:cNvSpPr txBox="1"/>
          <p:nvPr/>
        </p:nvSpPr>
        <p:spPr>
          <a:xfrm>
            <a:off x="4041068" y="2184610"/>
            <a:ext cx="81624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900" dirty="0">
                <a:solidFill>
                  <a:srgbClr val="98A7B6"/>
                </a:solidFill>
                <a:latin typeface="IBM Plex Sans" panose="020B0503050203000203" pitchFamily="34" charset="0"/>
              </a:rPr>
              <a:t>Gerekli Alan</a:t>
            </a:r>
            <a:endParaRPr lang="tr-TR" sz="900" dirty="0">
              <a:solidFill>
                <a:srgbClr val="E7B75C"/>
              </a:solidFill>
              <a:latin typeface="IBM Plex Sans" panose="020B0503050203000203" pitchFamily="34" charset="0"/>
            </a:endParaRPr>
          </a:p>
        </p:txBody>
      </p:sp>
      <p:sp>
        <p:nvSpPr>
          <p:cNvPr id="16" name="Metin kutusu 15">
            <a:extLst>
              <a:ext uri="{FF2B5EF4-FFF2-40B4-BE49-F238E27FC236}">
                <a16:creationId xmlns:a16="http://schemas.microsoft.com/office/drawing/2014/main" id="{1C00F79E-846A-EE22-68BB-5B4FA999BA5F}"/>
              </a:ext>
            </a:extLst>
          </p:cNvPr>
          <p:cNvSpPr txBox="1"/>
          <p:nvPr/>
        </p:nvSpPr>
        <p:spPr>
          <a:xfrm>
            <a:off x="4041068" y="377714"/>
            <a:ext cx="122341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900" dirty="0">
                <a:solidFill>
                  <a:srgbClr val="E7B75C"/>
                </a:solidFill>
                <a:latin typeface="IBM Plex Sans" panose="020B0503050203000203" pitchFamily="34" charset="0"/>
              </a:rPr>
              <a:t>T-01</a:t>
            </a:r>
            <a:r>
              <a:rPr lang="tr-TR" sz="900" dirty="0">
                <a:solidFill>
                  <a:srgbClr val="98A7B6"/>
                </a:solidFill>
                <a:latin typeface="IBM Plex Sans" panose="020B0503050203000203" pitchFamily="34" charset="0"/>
              </a:rPr>
              <a:t> | </a:t>
            </a:r>
            <a:r>
              <a:rPr lang="tr-TR" sz="900" dirty="0" err="1">
                <a:solidFill>
                  <a:srgbClr val="98A7B6"/>
                </a:solidFill>
                <a:latin typeface="IBM Plex Sans" panose="020B0503050203000203" pitchFamily="34" charset="0"/>
              </a:rPr>
              <a:t>Brandt</a:t>
            </a:r>
            <a:r>
              <a:rPr lang="tr-TR" sz="900" dirty="0">
                <a:solidFill>
                  <a:srgbClr val="98A7B6"/>
                </a:solidFill>
                <a:latin typeface="IBM Plex Sans" panose="020B0503050203000203" pitchFamily="34" charset="0"/>
              </a:rPr>
              <a:t> T-212</a:t>
            </a:r>
          </a:p>
        </p:txBody>
      </p:sp>
      <p:sp>
        <p:nvSpPr>
          <p:cNvPr id="18" name="Metin kutusu 17">
            <a:extLst>
              <a:ext uri="{FF2B5EF4-FFF2-40B4-BE49-F238E27FC236}">
                <a16:creationId xmlns:a16="http://schemas.microsoft.com/office/drawing/2014/main" id="{99045D98-6C00-D4B7-9BB0-D6FF0647D412}"/>
              </a:ext>
            </a:extLst>
          </p:cNvPr>
          <p:cNvSpPr txBox="1"/>
          <p:nvPr/>
        </p:nvSpPr>
        <p:spPr>
          <a:xfrm>
            <a:off x="5438676" y="766740"/>
            <a:ext cx="56618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900" dirty="0">
                <a:solidFill>
                  <a:srgbClr val="E7EDF3"/>
                </a:solidFill>
                <a:latin typeface="IBM Plex Sans" panose="020B0503050203000203" pitchFamily="34" charset="0"/>
              </a:rPr>
              <a:t>Manuel</a:t>
            </a:r>
          </a:p>
        </p:txBody>
      </p:sp>
      <p:sp>
        <p:nvSpPr>
          <p:cNvPr id="20" name="Metin kutusu 19">
            <a:extLst>
              <a:ext uri="{FF2B5EF4-FFF2-40B4-BE49-F238E27FC236}">
                <a16:creationId xmlns:a16="http://schemas.microsoft.com/office/drawing/2014/main" id="{8CF3CF9A-823B-B171-DE15-CACD53C66D9D}"/>
              </a:ext>
            </a:extLst>
          </p:cNvPr>
          <p:cNvSpPr txBox="1"/>
          <p:nvPr/>
        </p:nvSpPr>
        <p:spPr>
          <a:xfrm>
            <a:off x="5547681" y="1127561"/>
            <a:ext cx="45717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900" dirty="0">
                <a:solidFill>
                  <a:srgbClr val="E7EDF3"/>
                </a:solidFill>
                <a:latin typeface="IBM Plex Sans" panose="020B0503050203000203" pitchFamily="34" charset="0"/>
              </a:rPr>
              <a:t>% 40</a:t>
            </a:r>
          </a:p>
        </p:txBody>
      </p:sp>
      <p:sp>
        <p:nvSpPr>
          <p:cNvPr id="22" name="Metin kutusu 21">
            <a:extLst>
              <a:ext uri="{FF2B5EF4-FFF2-40B4-BE49-F238E27FC236}">
                <a16:creationId xmlns:a16="http://schemas.microsoft.com/office/drawing/2014/main" id="{4A8BB499-10D9-C7F4-2F3D-8A5DFEE2AEA9}"/>
              </a:ext>
            </a:extLst>
          </p:cNvPr>
          <p:cNvSpPr txBox="1"/>
          <p:nvPr/>
        </p:nvSpPr>
        <p:spPr>
          <a:xfrm>
            <a:off x="5459516" y="1488382"/>
            <a:ext cx="54534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900" dirty="0">
                <a:solidFill>
                  <a:srgbClr val="E7EDF3"/>
                </a:solidFill>
                <a:latin typeface="IBM Plex Sans" panose="020B0503050203000203" pitchFamily="34" charset="0"/>
              </a:rPr>
              <a:t>1,4 kW</a:t>
            </a:r>
          </a:p>
        </p:txBody>
      </p:sp>
      <p:sp>
        <p:nvSpPr>
          <p:cNvPr id="24" name="Metin kutusu 23">
            <a:extLst>
              <a:ext uri="{FF2B5EF4-FFF2-40B4-BE49-F238E27FC236}">
                <a16:creationId xmlns:a16="http://schemas.microsoft.com/office/drawing/2014/main" id="{2D1B2C0F-BBC7-8835-478A-ABA80957C880}"/>
              </a:ext>
            </a:extLst>
          </p:cNvPr>
          <p:cNvSpPr txBox="1"/>
          <p:nvPr/>
        </p:nvSpPr>
        <p:spPr>
          <a:xfrm>
            <a:off x="5421044" y="1849203"/>
            <a:ext cx="58381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900" dirty="0">
                <a:solidFill>
                  <a:srgbClr val="E7EDF3"/>
                </a:solidFill>
                <a:latin typeface="IBM Plex Sans" panose="020B0503050203000203" pitchFamily="34" charset="0"/>
              </a:rPr>
              <a:t>0,1 mm</a:t>
            </a:r>
          </a:p>
        </p:txBody>
      </p:sp>
      <p:sp>
        <p:nvSpPr>
          <p:cNvPr id="25" name="Metin kutusu 24">
            <a:extLst>
              <a:ext uri="{FF2B5EF4-FFF2-40B4-BE49-F238E27FC236}">
                <a16:creationId xmlns:a16="http://schemas.microsoft.com/office/drawing/2014/main" id="{C4D14833-777F-E0AD-9022-FA58224224B6}"/>
              </a:ext>
            </a:extLst>
          </p:cNvPr>
          <p:cNvSpPr txBox="1"/>
          <p:nvPr/>
        </p:nvSpPr>
        <p:spPr>
          <a:xfrm>
            <a:off x="5093158" y="2210026"/>
            <a:ext cx="93166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900" dirty="0">
                <a:solidFill>
                  <a:srgbClr val="E7EDF3"/>
                </a:solidFill>
                <a:latin typeface="IBM Plex Sans" panose="020B0503050203000203" pitchFamily="34" charset="0"/>
              </a:rPr>
              <a:t>30 m2 x 3,3 m</a:t>
            </a:r>
          </a:p>
        </p:txBody>
      </p:sp>
      <p:pic>
        <p:nvPicPr>
          <p:cNvPr id="29" name="Grafik 28">
            <a:extLst>
              <a:ext uri="{FF2B5EF4-FFF2-40B4-BE49-F238E27FC236}">
                <a16:creationId xmlns:a16="http://schemas.microsoft.com/office/drawing/2014/main" id="{0727A63C-6A77-B70A-B4F1-C2300B039A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341" t="8824" r="4407" b="8626"/>
          <a:stretch>
            <a:fillRect/>
          </a:stretch>
        </p:blipFill>
        <p:spPr>
          <a:xfrm>
            <a:off x="3820561" y="1148432"/>
            <a:ext cx="198975" cy="180000"/>
          </a:xfrm>
          <a:prstGeom prst="rect">
            <a:avLst/>
          </a:prstGeom>
        </p:spPr>
      </p:pic>
      <p:pic>
        <p:nvPicPr>
          <p:cNvPr id="31" name="Grafik 30">
            <a:extLst>
              <a:ext uri="{FF2B5EF4-FFF2-40B4-BE49-F238E27FC236}">
                <a16:creationId xmlns:a16="http://schemas.microsoft.com/office/drawing/2014/main" id="{C79D2EFA-7AC7-F5DA-9241-037E4127592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10588" b="10037"/>
          <a:stretch>
            <a:fillRect/>
          </a:stretch>
        </p:blipFill>
        <p:spPr>
          <a:xfrm>
            <a:off x="3806662" y="1502296"/>
            <a:ext cx="226772" cy="180000"/>
          </a:xfrm>
          <a:prstGeom prst="rect">
            <a:avLst/>
          </a:prstGeom>
        </p:spPr>
      </p:pic>
      <p:pic>
        <p:nvPicPr>
          <p:cNvPr id="34" name="Grafik 33">
            <a:extLst>
              <a:ext uri="{FF2B5EF4-FFF2-40B4-BE49-F238E27FC236}">
                <a16:creationId xmlns:a16="http://schemas.microsoft.com/office/drawing/2014/main" id="{5494F666-4212-35D4-D7D0-9809D66DE0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 flipH="1">
            <a:off x="3830048" y="1856160"/>
            <a:ext cx="180000" cy="180000"/>
          </a:xfrm>
          <a:prstGeom prst="rect">
            <a:avLst/>
          </a:prstGeom>
        </p:spPr>
      </p:pic>
      <p:pic>
        <p:nvPicPr>
          <p:cNvPr id="39" name="Grafik 38">
            <a:extLst>
              <a:ext uri="{FF2B5EF4-FFF2-40B4-BE49-F238E27FC236}">
                <a16:creationId xmlns:a16="http://schemas.microsoft.com/office/drawing/2014/main" id="{61247DAE-C7E3-1DC5-E449-972AE3E743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806" t="3383" r="3595" b="3398"/>
          <a:stretch>
            <a:fillRect/>
          </a:stretch>
        </p:blipFill>
        <p:spPr>
          <a:xfrm>
            <a:off x="3830646" y="2210026"/>
            <a:ext cx="178805" cy="180000"/>
          </a:xfrm>
          <a:prstGeom prst="rect">
            <a:avLst/>
          </a:prstGeom>
        </p:spPr>
      </p:pic>
      <p:pic>
        <p:nvPicPr>
          <p:cNvPr id="43" name="Grafik 42">
            <a:extLst>
              <a:ext uri="{FF2B5EF4-FFF2-40B4-BE49-F238E27FC236}">
                <a16:creationId xmlns:a16="http://schemas.microsoft.com/office/drawing/2014/main" id="{CC933A51-C358-A0F9-14CF-D77FCC3894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30048" y="794568"/>
            <a:ext cx="180000" cy="180000"/>
          </a:xfrm>
          <a:prstGeom prst="rect">
            <a:avLst/>
          </a:prstGeom>
        </p:spPr>
      </p:pic>
      <p:pic>
        <p:nvPicPr>
          <p:cNvPr id="46" name="Resim 45">
            <a:extLst>
              <a:ext uri="{FF2B5EF4-FFF2-40B4-BE49-F238E27FC236}">
                <a16:creationId xmlns:a16="http://schemas.microsoft.com/office/drawing/2014/main" id="{2E4FE040-EDB5-D512-66AB-DDB78C32ED7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61600" y="184027"/>
            <a:ext cx="371834" cy="360000"/>
          </a:xfrm>
          <a:prstGeom prst="rect">
            <a:avLst/>
          </a:prstGeom>
        </p:spPr>
      </p:pic>
      <p:cxnSp>
        <p:nvCxnSpPr>
          <p:cNvPr id="62" name="Düz Bağlayıcı 61">
            <a:extLst>
              <a:ext uri="{FF2B5EF4-FFF2-40B4-BE49-F238E27FC236}">
                <a16:creationId xmlns:a16="http://schemas.microsoft.com/office/drawing/2014/main" id="{19355369-EA0D-D978-1817-701E8E4AB5EB}"/>
              </a:ext>
            </a:extLst>
          </p:cNvPr>
          <p:cNvCxnSpPr>
            <a:cxnSpLocks/>
          </p:cNvCxnSpPr>
          <p:nvPr/>
        </p:nvCxnSpPr>
        <p:spPr>
          <a:xfrm>
            <a:off x="467359" y="2646327"/>
            <a:ext cx="5424155" cy="0"/>
          </a:xfrm>
          <a:prstGeom prst="line">
            <a:avLst/>
          </a:prstGeom>
          <a:ln w="6350">
            <a:solidFill>
              <a:srgbClr val="98A7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5" name="Grafik 64">
            <a:extLst>
              <a:ext uri="{FF2B5EF4-FFF2-40B4-BE49-F238E27FC236}">
                <a16:creationId xmlns:a16="http://schemas.microsoft.com/office/drawing/2014/main" id="{ADB2A3DB-D444-FB6F-774C-E1BCDC1F9ED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16540" r="16526"/>
          <a:stretch>
            <a:fillRect/>
          </a:stretch>
        </p:blipFill>
        <p:spPr>
          <a:xfrm>
            <a:off x="527689" y="4042510"/>
            <a:ext cx="240962" cy="360000"/>
          </a:xfrm>
          <a:prstGeom prst="rect">
            <a:avLst/>
          </a:prstGeom>
        </p:spPr>
      </p:pic>
      <p:pic>
        <p:nvPicPr>
          <p:cNvPr id="67" name="Grafik 66">
            <a:extLst>
              <a:ext uri="{FF2B5EF4-FFF2-40B4-BE49-F238E27FC236}">
                <a16:creationId xmlns:a16="http://schemas.microsoft.com/office/drawing/2014/main" id="{2599B148-9825-A310-670E-44F1924C8D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 l="6020" t="6076" r="6160" b="6498"/>
          <a:stretch>
            <a:fillRect/>
          </a:stretch>
        </p:blipFill>
        <p:spPr>
          <a:xfrm>
            <a:off x="467359" y="3447153"/>
            <a:ext cx="361622" cy="360000"/>
          </a:xfrm>
          <a:prstGeom prst="rect">
            <a:avLst/>
          </a:prstGeom>
        </p:spPr>
      </p:pic>
      <p:pic>
        <p:nvPicPr>
          <p:cNvPr id="69" name="Grafik 68">
            <a:extLst>
              <a:ext uri="{FF2B5EF4-FFF2-40B4-BE49-F238E27FC236}">
                <a16:creationId xmlns:a16="http://schemas.microsoft.com/office/drawing/2014/main" id="{3DA6C884-57B9-5E83-FDB6-F53C6F0223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7724" t="6897" r="7266" b="9655"/>
          <a:stretch>
            <a:fillRect/>
          </a:stretch>
        </p:blipFill>
        <p:spPr>
          <a:xfrm>
            <a:off x="467359" y="2851797"/>
            <a:ext cx="366738" cy="360000"/>
          </a:xfrm>
          <a:prstGeom prst="rect">
            <a:avLst/>
          </a:prstGeom>
        </p:spPr>
      </p:pic>
      <p:sp>
        <p:nvSpPr>
          <p:cNvPr id="73" name="Metin kutusu 72">
            <a:extLst>
              <a:ext uri="{FF2B5EF4-FFF2-40B4-BE49-F238E27FC236}">
                <a16:creationId xmlns:a16="http://schemas.microsoft.com/office/drawing/2014/main" id="{FB869154-1DC6-230B-E046-434E86D6841A}"/>
              </a:ext>
            </a:extLst>
          </p:cNvPr>
          <p:cNvSpPr txBox="1"/>
          <p:nvPr/>
        </p:nvSpPr>
        <p:spPr>
          <a:xfrm>
            <a:off x="957334" y="2910796"/>
            <a:ext cx="63671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900" dirty="0">
                <a:solidFill>
                  <a:srgbClr val="98A7B6"/>
                </a:solidFill>
                <a:latin typeface="IBM Plex Sans" panose="020B0503050203000203" pitchFamily="34" charset="0"/>
              </a:rPr>
              <a:t>Kapasite</a:t>
            </a:r>
          </a:p>
        </p:txBody>
      </p:sp>
      <p:sp>
        <p:nvSpPr>
          <p:cNvPr id="74" name="Metin kutusu 73">
            <a:extLst>
              <a:ext uri="{FF2B5EF4-FFF2-40B4-BE49-F238E27FC236}">
                <a16:creationId xmlns:a16="http://schemas.microsoft.com/office/drawing/2014/main" id="{F9D6E66B-EFD8-A1FE-0DF5-B6F64B8C7813}"/>
              </a:ext>
            </a:extLst>
          </p:cNvPr>
          <p:cNvSpPr txBox="1"/>
          <p:nvPr/>
        </p:nvSpPr>
        <p:spPr>
          <a:xfrm>
            <a:off x="2165854" y="2910796"/>
            <a:ext cx="55335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900" dirty="0">
                <a:solidFill>
                  <a:srgbClr val="98A7B6"/>
                </a:solidFill>
                <a:latin typeface="IBM Plex Sans" panose="020B0503050203000203" pitchFamily="34" charset="0"/>
              </a:rPr>
              <a:t>Formül</a:t>
            </a:r>
          </a:p>
        </p:txBody>
      </p:sp>
      <p:sp>
        <p:nvSpPr>
          <p:cNvPr id="75" name="Metin kutusu 74">
            <a:extLst>
              <a:ext uri="{FF2B5EF4-FFF2-40B4-BE49-F238E27FC236}">
                <a16:creationId xmlns:a16="http://schemas.microsoft.com/office/drawing/2014/main" id="{6BB4515A-2425-7E78-797F-58B71728C439}"/>
              </a:ext>
            </a:extLst>
          </p:cNvPr>
          <p:cNvSpPr txBox="1"/>
          <p:nvPr/>
        </p:nvSpPr>
        <p:spPr>
          <a:xfrm>
            <a:off x="4041068" y="2910796"/>
            <a:ext cx="78134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900" dirty="0">
                <a:solidFill>
                  <a:srgbClr val="E7B75C"/>
                </a:solidFill>
                <a:latin typeface="IBM Plex Sans" panose="020B0503050203000203" pitchFamily="34" charset="0"/>
              </a:rPr>
              <a:t>3 Vardiya</a:t>
            </a:r>
          </a:p>
        </p:txBody>
      </p:sp>
      <p:sp>
        <p:nvSpPr>
          <p:cNvPr id="76" name="Metin kutusu 75">
            <a:extLst>
              <a:ext uri="{FF2B5EF4-FFF2-40B4-BE49-F238E27FC236}">
                <a16:creationId xmlns:a16="http://schemas.microsoft.com/office/drawing/2014/main" id="{F128E2AE-634C-AFF6-E05E-B7FA38F62982}"/>
              </a:ext>
            </a:extLst>
          </p:cNvPr>
          <p:cNvSpPr txBox="1"/>
          <p:nvPr/>
        </p:nvSpPr>
        <p:spPr>
          <a:xfrm>
            <a:off x="957334" y="3513266"/>
            <a:ext cx="84991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900" dirty="0">
                <a:solidFill>
                  <a:srgbClr val="98A7B6"/>
                </a:solidFill>
                <a:latin typeface="IBM Plex Sans" panose="020B0503050203000203" pitchFamily="34" charset="0"/>
              </a:rPr>
              <a:t>Bakım Gideri</a:t>
            </a:r>
          </a:p>
        </p:txBody>
      </p:sp>
      <p:sp>
        <p:nvSpPr>
          <p:cNvPr id="77" name="Metin kutusu 76">
            <a:extLst>
              <a:ext uri="{FF2B5EF4-FFF2-40B4-BE49-F238E27FC236}">
                <a16:creationId xmlns:a16="http://schemas.microsoft.com/office/drawing/2014/main" id="{897C032E-385F-94C8-C8D9-268856CAF4E1}"/>
              </a:ext>
            </a:extLst>
          </p:cNvPr>
          <p:cNvSpPr txBox="1"/>
          <p:nvPr/>
        </p:nvSpPr>
        <p:spPr>
          <a:xfrm>
            <a:off x="2165854" y="3513266"/>
            <a:ext cx="55335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900" dirty="0">
                <a:solidFill>
                  <a:srgbClr val="98A7B6"/>
                </a:solidFill>
                <a:latin typeface="IBM Plex Sans" panose="020B0503050203000203" pitchFamily="34" charset="0"/>
              </a:rPr>
              <a:t>Formül</a:t>
            </a:r>
          </a:p>
        </p:txBody>
      </p:sp>
      <p:sp>
        <p:nvSpPr>
          <p:cNvPr id="78" name="Metin kutusu 77">
            <a:extLst>
              <a:ext uri="{FF2B5EF4-FFF2-40B4-BE49-F238E27FC236}">
                <a16:creationId xmlns:a16="http://schemas.microsoft.com/office/drawing/2014/main" id="{9FBA67D6-B150-349B-B1D6-4B44D25EACEA}"/>
              </a:ext>
            </a:extLst>
          </p:cNvPr>
          <p:cNvSpPr txBox="1"/>
          <p:nvPr/>
        </p:nvSpPr>
        <p:spPr>
          <a:xfrm>
            <a:off x="4041068" y="3513266"/>
            <a:ext cx="112834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900" dirty="0">
                <a:solidFill>
                  <a:srgbClr val="E7B75C"/>
                </a:solidFill>
                <a:latin typeface="IBM Plex Sans" panose="020B0503050203000203" pitchFamily="34" charset="0"/>
              </a:rPr>
              <a:t>Aylık, sabit</a:t>
            </a:r>
          </a:p>
        </p:txBody>
      </p:sp>
      <p:sp>
        <p:nvSpPr>
          <p:cNvPr id="79" name="Metin kutusu 78">
            <a:extLst>
              <a:ext uri="{FF2B5EF4-FFF2-40B4-BE49-F238E27FC236}">
                <a16:creationId xmlns:a16="http://schemas.microsoft.com/office/drawing/2014/main" id="{090B7ECD-8FA9-A623-56F3-1AA8C428DEE7}"/>
              </a:ext>
            </a:extLst>
          </p:cNvPr>
          <p:cNvSpPr txBox="1"/>
          <p:nvPr/>
        </p:nvSpPr>
        <p:spPr>
          <a:xfrm>
            <a:off x="957334" y="4102959"/>
            <a:ext cx="81945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900" dirty="0">
                <a:solidFill>
                  <a:srgbClr val="98A7B6"/>
                </a:solidFill>
                <a:latin typeface="IBM Plex Sans" panose="020B0503050203000203" pitchFamily="34" charset="0"/>
              </a:rPr>
              <a:t>Enerji Gideri</a:t>
            </a:r>
          </a:p>
        </p:txBody>
      </p:sp>
      <p:sp>
        <p:nvSpPr>
          <p:cNvPr id="80" name="Metin kutusu 79">
            <a:extLst>
              <a:ext uri="{FF2B5EF4-FFF2-40B4-BE49-F238E27FC236}">
                <a16:creationId xmlns:a16="http://schemas.microsoft.com/office/drawing/2014/main" id="{E0AE3534-9016-497B-EECD-364E70476E37}"/>
              </a:ext>
            </a:extLst>
          </p:cNvPr>
          <p:cNvSpPr txBox="1"/>
          <p:nvPr/>
        </p:nvSpPr>
        <p:spPr>
          <a:xfrm>
            <a:off x="2165854" y="4102959"/>
            <a:ext cx="55335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900" dirty="0">
                <a:solidFill>
                  <a:srgbClr val="98A7B6"/>
                </a:solidFill>
                <a:latin typeface="IBM Plex Sans" panose="020B0503050203000203" pitchFamily="34" charset="0"/>
              </a:rPr>
              <a:t>Formül</a:t>
            </a:r>
          </a:p>
        </p:txBody>
      </p:sp>
      <p:sp>
        <p:nvSpPr>
          <p:cNvPr id="81" name="Metin kutusu 80">
            <a:extLst>
              <a:ext uri="{FF2B5EF4-FFF2-40B4-BE49-F238E27FC236}">
                <a16:creationId xmlns:a16="http://schemas.microsoft.com/office/drawing/2014/main" id="{4469A548-F723-7894-4462-12EE8E0F0CC5}"/>
              </a:ext>
            </a:extLst>
          </p:cNvPr>
          <p:cNvSpPr txBox="1"/>
          <p:nvPr/>
        </p:nvSpPr>
        <p:spPr>
          <a:xfrm>
            <a:off x="4041068" y="4102959"/>
            <a:ext cx="112834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900" dirty="0">
                <a:solidFill>
                  <a:srgbClr val="E7B75C"/>
                </a:solidFill>
                <a:latin typeface="IBM Plex Sans" panose="020B0503050203000203" pitchFamily="34" charset="0"/>
              </a:rPr>
              <a:t>Çalışmaya bağlı</a:t>
            </a:r>
          </a:p>
        </p:txBody>
      </p:sp>
      <p:sp>
        <p:nvSpPr>
          <p:cNvPr id="82" name="Metin kutusu 81">
            <a:extLst>
              <a:ext uri="{FF2B5EF4-FFF2-40B4-BE49-F238E27FC236}">
                <a16:creationId xmlns:a16="http://schemas.microsoft.com/office/drawing/2014/main" id="{6B3E55A7-0A3E-FB07-E5C5-9140966C7E39}"/>
              </a:ext>
            </a:extLst>
          </p:cNvPr>
          <p:cNvSpPr txBox="1"/>
          <p:nvPr/>
        </p:nvSpPr>
        <p:spPr>
          <a:xfrm>
            <a:off x="5504610" y="2910796"/>
            <a:ext cx="50526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900" dirty="0">
                <a:solidFill>
                  <a:srgbClr val="2FD17B"/>
                </a:solidFill>
                <a:latin typeface="IBM Plex Sans" panose="020B0503050203000203" pitchFamily="34" charset="0"/>
              </a:rPr>
              <a:t>Sonuç</a:t>
            </a:r>
          </a:p>
        </p:txBody>
      </p:sp>
      <p:sp>
        <p:nvSpPr>
          <p:cNvPr id="83" name="Metin kutusu 82">
            <a:extLst>
              <a:ext uri="{FF2B5EF4-FFF2-40B4-BE49-F238E27FC236}">
                <a16:creationId xmlns:a16="http://schemas.microsoft.com/office/drawing/2014/main" id="{D185B31B-B42C-9F3D-4CAF-F11D401C787B}"/>
              </a:ext>
            </a:extLst>
          </p:cNvPr>
          <p:cNvSpPr txBox="1"/>
          <p:nvPr/>
        </p:nvSpPr>
        <p:spPr>
          <a:xfrm>
            <a:off x="5504610" y="3513266"/>
            <a:ext cx="50526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900" dirty="0">
                <a:solidFill>
                  <a:srgbClr val="E86F6F"/>
                </a:solidFill>
                <a:latin typeface="IBM Plex Sans" panose="020B0503050203000203" pitchFamily="34" charset="0"/>
              </a:rPr>
              <a:t>Sonuç</a:t>
            </a:r>
          </a:p>
        </p:txBody>
      </p:sp>
      <p:sp>
        <p:nvSpPr>
          <p:cNvPr id="84" name="Metin kutusu 83">
            <a:extLst>
              <a:ext uri="{FF2B5EF4-FFF2-40B4-BE49-F238E27FC236}">
                <a16:creationId xmlns:a16="http://schemas.microsoft.com/office/drawing/2014/main" id="{403487E3-EDD3-0333-B281-FF8CBBE255AF}"/>
              </a:ext>
            </a:extLst>
          </p:cNvPr>
          <p:cNvSpPr txBox="1"/>
          <p:nvPr/>
        </p:nvSpPr>
        <p:spPr>
          <a:xfrm>
            <a:off x="5504610" y="4102959"/>
            <a:ext cx="50526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900" dirty="0">
                <a:solidFill>
                  <a:srgbClr val="E86F6F"/>
                </a:solidFill>
                <a:latin typeface="IBM Plex Sans" panose="020B0503050203000203" pitchFamily="34" charset="0"/>
              </a:rPr>
              <a:t>Sonuç</a:t>
            </a:r>
          </a:p>
        </p:txBody>
      </p:sp>
      <p:cxnSp>
        <p:nvCxnSpPr>
          <p:cNvPr id="93" name="Düz Bağlayıcı 92">
            <a:extLst>
              <a:ext uri="{FF2B5EF4-FFF2-40B4-BE49-F238E27FC236}">
                <a16:creationId xmlns:a16="http://schemas.microsoft.com/office/drawing/2014/main" id="{11367E38-7AEC-29D2-ED36-A1F969AE2F61}"/>
              </a:ext>
            </a:extLst>
          </p:cNvPr>
          <p:cNvCxnSpPr>
            <a:cxnSpLocks/>
          </p:cNvCxnSpPr>
          <p:nvPr/>
        </p:nvCxnSpPr>
        <p:spPr>
          <a:xfrm flipV="1">
            <a:off x="467359" y="3295425"/>
            <a:ext cx="5442869" cy="28377"/>
          </a:xfrm>
          <a:prstGeom prst="line">
            <a:avLst/>
          </a:prstGeom>
          <a:ln w="3175">
            <a:solidFill>
              <a:srgbClr val="3A49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Düz Bağlayıcı 96">
            <a:extLst>
              <a:ext uri="{FF2B5EF4-FFF2-40B4-BE49-F238E27FC236}">
                <a16:creationId xmlns:a16="http://schemas.microsoft.com/office/drawing/2014/main" id="{F63B2D5E-7747-4762-BF2F-747792505042}"/>
              </a:ext>
            </a:extLst>
          </p:cNvPr>
          <p:cNvCxnSpPr>
            <a:cxnSpLocks/>
          </p:cNvCxnSpPr>
          <p:nvPr/>
        </p:nvCxnSpPr>
        <p:spPr>
          <a:xfrm flipV="1">
            <a:off x="467359" y="3953796"/>
            <a:ext cx="5442869" cy="28377"/>
          </a:xfrm>
          <a:prstGeom prst="line">
            <a:avLst/>
          </a:prstGeom>
          <a:ln w="3175">
            <a:solidFill>
              <a:srgbClr val="3A49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Düz Bağlayıcı 97">
            <a:extLst>
              <a:ext uri="{FF2B5EF4-FFF2-40B4-BE49-F238E27FC236}">
                <a16:creationId xmlns:a16="http://schemas.microsoft.com/office/drawing/2014/main" id="{3A51E5A4-B9EB-9691-D961-5EDB49484881}"/>
              </a:ext>
            </a:extLst>
          </p:cNvPr>
          <p:cNvCxnSpPr>
            <a:cxnSpLocks/>
          </p:cNvCxnSpPr>
          <p:nvPr/>
        </p:nvCxnSpPr>
        <p:spPr>
          <a:xfrm>
            <a:off x="467359" y="5061766"/>
            <a:ext cx="5424155" cy="0"/>
          </a:xfrm>
          <a:prstGeom prst="line">
            <a:avLst/>
          </a:prstGeom>
          <a:ln w="6350">
            <a:solidFill>
              <a:srgbClr val="98A7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Metin kutusu 98">
            <a:extLst>
              <a:ext uri="{FF2B5EF4-FFF2-40B4-BE49-F238E27FC236}">
                <a16:creationId xmlns:a16="http://schemas.microsoft.com/office/drawing/2014/main" id="{ADBC1BB3-F48C-F9CB-4560-7656A8BFAE81}"/>
              </a:ext>
            </a:extLst>
          </p:cNvPr>
          <p:cNvSpPr txBox="1"/>
          <p:nvPr/>
        </p:nvSpPr>
        <p:spPr>
          <a:xfrm>
            <a:off x="4106540" y="5216396"/>
            <a:ext cx="10294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1600" dirty="0">
                <a:solidFill>
                  <a:srgbClr val="2FD17B"/>
                </a:solidFill>
                <a:latin typeface="IBM Plex Sans" panose="020B0503050203000203" pitchFamily="34" charset="0"/>
              </a:rPr>
              <a:t>$ 12.000</a:t>
            </a:r>
          </a:p>
        </p:txBody>
      </p:sp>
      <p:sp>
        <p:nvSpPr>
          <p:cNvPr id="100" name="Metin kutusu 99">
            <a:extLst>
              <a:ext uri="{FF2B5EF4-FFF2-40B4-BE49-F238E27FC236}">
                <a16:creationId xmlns:a16="http://schemas.microsoft.com/office/drawing/2014/main" id="{A9C199B8-F294-53FA-3023-4DCF00AC8927}"/>
              </a:ext>
            </a:extLst>
          </p:cNvPr>
          <p:cNvSpPr txBox="1"/>
          <p:nvPr/>
        </p:nvSpPr>
        <p:spPr>
          <a:xfrm>
            <a:off x="2545080" y="5254868"/>
            <a:ext cx="15556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tr-TR" sz="1100" dirty="0">
                <a:latin typeface="IBM Plex Sans" panose="020B0503050203000203" pitchFamily="34" charset="0"/>
              </a:rPr>
              <a:t>Güncel Satış Fiyatı</a:t>
            </a:r>
          </a:p>
        </p:txBody>
      </p:sp>
      <p:sp>
        <p:nvSpPr>
          <p:cNvPr id="101" name="Dikdörtgen: Köşeleri Yuvarlatılmış 100">
            <a:extLst>
              <a:ext uri="{FF2B5EF4-FFF2-40B4-BE49-F238E27FC236}">
                <a16:creationId xmlns:a16="http://schemas.microsoft.com/office/drawing/2014/main" id="{CABF253F-2CC2-7295-FF8D-95743944DD38}"/>
              </a:ext>
            </a:extLst>
          </p:cNvPr>
          <p:cNvSpPr/>
          <p:nvPr/>
        </p:nvSpPr>
        <p:spPr>
          <a:xfrm>
            <a:off x="5313079" y="5197124"/>
            <a:ext cx="691779" cy="568104"/>
          </a:xfrm>
          <a:prstGeom prst="roundRect">
            <a:avLst>
              <a:gd name="adj" fmla="val 31425"/>
            </a:avLst>
          </a:prstGeom>
          <a:solidFill>
            <a:srgbClr val="1F7A4D"/>
          </a:solidFill>
          <a:ln w="9525">
            <a:solidFill>
              <a:srgbClr val="34455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200" dirty="0">
                <a:latin typeface="IBM Plex Sans" panose="020B0503050203000203" pitchFamily="34" charset="0"/>
              </a:rPr>
              <a:t>Sat</a:t>
            </a:r>
          </a:p>
        </p:txBody>
      </p:sp>
      <p:sp>
        <p:nvSpPr>
          <p:cNvPr id="102" name="Metin kutusu 101">
            <a:extLst>
              <a:ext uri="{FF2B5EF4-FFF2-40B4-BE49-F238E27FC236}">
                <a16:creationId xmlns:a16="http://schemas.microsoft.com/office/drawing/2014/main" id="{100E5DB0-549D-F2FD-3735-29064C48764B}"/>
              </a:ext>
            </a:extLst>
          </p:cNvPr>
          <p:cNvSpPr txBox="1"/>
          <p:nvPr/>
        </p:nvSpPr>
        <p:spPr>
          <a:xfrm>
            <a:off x="2943000" y="5534396"/>
            <a:ext cx="115768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900" dirty="0">
                <a:solidFill>
                  <a:srgbClr val="98A7B6"/>
                </a:solidFill>
                <a:latin typeface="IBM Plex Sans" panose="020B0503050203000203" pitchFamily="34" charset="0"/>
              </a:rPr>
              <a:t>Değişimin Formülü</a:t>
            </a:r>
          </a:p>
        </p:txBody>
      </p:sp>
      <p:sp>
        <p:nvSpPr>
          <p:cNvPr id="105" name="Metin kutusu 104">
            <a:extLst>
              <a:ext uri="{FF2B5EF4-FFF2-40B4-BE49-F238E27FC236}">
                <a16:creationId xmlns:a16="http://schemas.microsoft.com/office/drawing/2014/main" id="{5E4AAB71-7033-8284-3C6E-40E02935E13D}"/>
              </a:ext>
            </a:extLst>
          </p:cNvPr>
          <p:cNvSpPr txBox="1"/>
          <p:nvPr/>
        </p:nvSpPr>
        <p:spPr>
          <a:xfrm>
            <a:off x="957334" y="4626856"/>
            <a:ext cx="72808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900" dirty="0">
                <a:solidFill>
                  <a:srgbClr val="98A7B6"/>
                </a:solidFill>
                <a:latin typeface="IBM Plex Sans" panose="020B0503050203000203" pitchFamily="34" charset="0"/>
              </a:rPr>
              <a:t>Kondisyon</a:t>
            </a:r>
          </a:p>
        </p:txBody>
      </p:sp>
      <p:sp>
        <p:nvSpPr>
          <p:cNvPr id="106" name="Metin kutusu 105">
            <a:extLst>
              <a:ext uri="{FF2B5EF4-FFF2-40B4-BE49-F238E27FC236}">
                <a16:creationId xmlns:a16="http://schemas.microsoft.com/office/drawing/2014/main" id="{0FB87EFC-0930-507A-A129-714C9BAB14F9}"/>
              </a:ext>
            </a:extLst>
          </p:cNvPr>
          <p:cNvSpPr txBox="1"/>
          <p:nvPr/>
        </p:nvSpPr>
        <p:spPr>
          <a:xfrm>
            <a:off x="2165854" y="4626856"/>
            <a:ext cx="55335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900" dirty="0">
                <a:solidFill>
                  <a:srgbClr val="98A7B6"/>
                </a:solidFill>
                <a:latin typeface="IBM Plex Sans" panose="020B0503050203000203" pitchFamily="34" charset="0"/>
              </a:rPr>
              <a:t>Formül</a:t>
            </a:r>
          </a:p>
        </p:txBody>
      </p:sp>
      <p:sp>
        <p:nvSpPr>
          <p:cNvPr id="112" name="Metin kutusu 111">
            <a:extLst>
              <a:ext uri="{FF2B5EF4-FFF2-40B4-BE49-F238E27FC236}">
                <a16:creationId xmlns:a16="http://schemas.microsoft.com/office/drawing/2014/main" id="{EF11179D-5C4F-9CFE-1460-7F03543B0C6A}"/>
              </a:ext>
            </a:extLst>
          </p:cNvPr>
          <p:cNvSpPr txBox="1"/>
          <p:nvPr/>
        </p:nvSpPr>
        <p:spPr>
          <a:xfrm>
            <a:off x="4041068" y="4626856"/>
            <a:ext cx="112834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900" dirty="0">
                <a:solidFill>
                  <a:srgbClr val="E7B75C"/>
                </a:solidFill>
                <a:latin typeface="IBM Plex Sans" panose="020B0503050203000203" pitchFamily="34" charset="0"/>
              </a:rPr>
              <a:t>Aylık değişim</a:t>
            </a:r>
          </a:p>
        </p:txBody>
      </p:sp>
      <p:sp>
        <p:nvSpPr>
          <p:cNvPr id="128" name="Metin kutusu 127">
            <a:extLst>
              <a:ext uri="{FF2B5EF4-FFF2-40B4-BE49-F238E27FC236}">
                <a16:creationId xmlns:a16="http://schemas.microsoft.com/office/drawing/2014/main" id="{50879FAD-007F-B67A-97A9-EE9647E431D1}"/>
              </a:ext>
            </a:extLst>
          </p:cNvPr>
          <p:cNvSpPr txBox="1"/>
          <p:nvPr/>
        </p:nvSpPr>
        <p:spPr>
          <a:xfrm>
            <a:off x="5504610" y="4626856"/>
            <a:ext cx="50526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900" dirty="0">
                <a:solidFill>
                  <a:srgbClr val="E86F6F"/>
                </a:solidFill>
                <a:latin typeface="IBM Plex Sans" panose="020B0503050203000203" pitchFamily="34" charset="0"/>
              </a:rPr>
              <a:t>Sonuç</a:t>
            </a:r>
          </a:p>
        </p:txBody>
      </p:sp>
      <p:cxnSp>
        <p:nvCxnSpPr>
          <p:cNvPr id="141" name="Düz Bağlayıcı 140">
            <a:extLst>
              <a:ext uri="{FF2B5EF4-FFF2-40B4-BE49-F238E27FC236}">
                <a16:creationId xmlns:a16="http://schemas.microsoft.com/office/drawing/2014/main" id="{AF3F31E4-C132-BF3D-44B8-BE7670E14AD3}"/>
              </a:ext>
            </a:extLst>
          </p:cNvPr>
          <p:cNvCxnSpPr>
            <a:cxnSpLocks/>
          </p:cNvCxnSpPr>
          <p:nvPr/>
        </p:nvCxnSpPr>
        <p:spPr>
          <a:xfrm flipV="1">
            <a:off x="467359" y="4477693"/>
            <a:ext cx="5442869" cy="28377"/>
          </a:xfrm>
          <a:prstGeom prst="line">
            <a:avLst/>
          </a:prstGeom>
          <a:ln w="3175">
            <a:solidFill>
              <a:srgbClr val="3A49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2" name="Grafik 141">
            <a:extLst>
              <a:ext uri="{FF2B5EF4-FFF2-40B4-BE49-F238E27FC236}">
                <a16:creationId xmlns:a16="http://schemas.microsoft.com/office/drawing/2014/main" id="{B450857B-5080-4676-0A88-CD12BA6715A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341" t="8824" r="4407" b="8626"/>
          <a:stretch>
            <a:fillRect/>
          </a:stretch>
        </p:blipFill>
        <p:spPr>
          <a:xfrm>
            <a:off x="523812" y="4626856"/>
            <a:ext cx="305169" cy="276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49906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56</Words>
  <Application>Microsoft Office PowerPoint</Application>
  <PresentationFormat>Geniş ekran</PresentationFormat>
  <Paragraphs>32</Paragraphs>
  <Slides>1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IBM Plex Sans</vt:lpstr>
      <vt:lpstr>Office Teması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Emrah ENGİN</dc:creator>
  <cp:lastModifiedBy>Emrah ENGİN</cp:lastModifiedBy>
  <cp:revision>1</cp:revision>
  <dcterms:created xsi:type="dcterms:W3CDTF">2026-10-08T07:48:12Z</dcterms:created>
  <dcterms:modified xsi:type="dcterms:W3CDTF">2026-10-08T07:49:17Z</dcterms:modified>
</cp:coreProperties>
</file>